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7"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07" autoAdjust="0"/>
  </p:normalViewPr>
  <p:slideViewPr>
    <p:cSldViewPr snapToGrid="0" snapToObjects="1">
      <p:cViewPr varScale="1">
        <p:scale>
          <a:sx n="88" d="100"/>
          <a:sy n="88"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578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B1F"/>
        </a:solidFill>
        <a:effectLst/>
      </p:bgPr>
    </p:bg>
    <p:spTree>
      <p:nvGrpSpPr>
        <p:cNvPr id="1" name=""/>
        <p:cNvGrpSpPr/>
        <p:nvPr/>
      </p:nvGrpSpPr>
      <p:grpSpPr>
        <a:xfrm>
          <a:off x="0" y="0"/>
          <a:ext cx="0" cy="0"/>
          <a:chOff x="0" y="0"/>
          <a:chExt cx="0" cy="0"/>
        </a:xfrm>
      </p:grpSpPr>
      <p:sp>
        <p:nvSpPr>
          <p:cNvPr id="2" name="Text 0"/>
          <p:cNvSpPr/>
          <p:nvPr/>
        </p:nvSpPr>
        <p:spPr>
          <a:xfrm>
            <a:off x="812800" y="222126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FF6B81"/>
                </a:solidFill>
                <a:latin typeface="IBM Plex Sans" pitchFamily="34" charset="0"/>
                <a:ea typeface="IBM Plex Sans" pitchFamily="34" charset="-122"/>
                <a:cs typeface="IBM Plex Sans" pitchFamily="34" charset="-120"/>
              </a:rPr>
              <a:t>DDN · GLOBAL GTM SOLUTION ENGINEERING COE</a:t>
            </a:r>
            <a:endParaRPr lang="en-US" sz="1300" dirty="0"/>
          </a:p>
        </p:txBody>
      </p:sp>
      <p:sp>
        <p:nvSpPr>
          <p:cNvPr id="3" name="Text 1"/>
          <p:cNvSpPr/>
          <p:nvPr/>
        </p:nvSpPr>
        <p:spPr>
          <a:xfrm>
            <a:off x="812800" y="2706390"/>
            <a:ext cx="10883392" cy="878830"/>
          </a:xfrm>
          <a:prstGeom prst="rect">
            <a:avLst/>
          </a:prstGeom>
          <a:noFill/>
          <a:ln/>
        </p:spPr>
        <p:txBody>
          <a:bodyPr wrap="square" lIns="0" tIns="0" rIns="0" bIns="0" rtlCol="0" anchor="t">
            <a:normAutofit/>
          </a:bodyPr>
          <a:lstStyle/>
          <a:p>
            <a:pPr marL="0" indent="0" algn="l">
              <a:lnSpc>
                <a:spcPts val="6720"/>
              </a:lnSpc>
              <a:buNone/>
            </a:pPr>
            <a:r>
              <a:rPr lang="en-US" sz="6400" b="1" dirty="0">
                <a:solidFill>
                  <a:srgbClr val="FAF9F6"/>
                </a:solidFill>
                <a:latin typeface="Space Grotesk" pitchFamily="34" charset="0"/>
                <a:ea typeface="Space Grotesk" pitchFamily="34" charset="-122"/>
                <a:cs typeface="Space Grotesk" pitchFamily="34" charset="-120"/>
              </a:rPr>
              <a:t>CoE RFP Manager</a:t>
            </a:r>
            <a:endParaRPr lang="en-US" sz="6400" dirty="0"/>
          </a:p>
        </p:txBody>
      </p:sp>
      <p:sp>
        <p:nvSpPr>
          <p:cNvPr id="4" name="Text 2"/>
          <p:cNvSpPr/>
          <p:nvPr/>
        </p:nvSpPr>
        <p:spPr>
          <a:xfrm>
            <a:off x="812800" y="3813820"/>
            <a:ext cx="8502650" cy="34543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C7C9CE"/>
                </a:solidFill>
                <a:latin typeface="IBM Plex Sans" pitchFamily="34" charset="0"/>
                <a:ea typeface="IBM Plex Sans" pitchFamily="34" charset="-122"/>
                <a:cs typeface="IBM Plex Sans" pitchFamily="34" charset="-120"/>
              </a:rPr>
              <a:t>Building an AI-first RFP function for better RFP responses</a:t>
            </a:r>
            <a:endParaRPr lang="en-US" sz="1800" dirty="0"/>
          </a:p>
        </p:txBody>
      </p:sp>
      <p:sp>
        <p:nvSpPr>
          <p:cNvPr id="5" name="Shape 3"/>
          <p:cNvSpPr/>
          <p:nvPr/>
        </p:nvSpPr>
        <p:spPr>
          <a:xfrm>
            <a:off x="812800" y="4499570"/>
            <a:ext cx="406400" cy="25400"/>
          </a:xfrm>
          <a:prstGeom prst="rect">
            <a:avLst/>
          </a:prstGeom>
          <a:solidFill>
            <a:srgbClr val="D6293F"/>
          </a:solidFill>
          <a:ln/>
        </p:spPr>
        <p:txBody>
          <a:bodyPr/>
          <a:lstStyle/>
          <a:p>
            <a:endParaRPr lang="es-CO"/>
          </a:p>
        </p:txBody>
      </p:sp>
      <p:sp>
        <p:nvSpPr>
          <p:cNvPr id="6" name="Text 4"/>
          <p:cNvSpPr/>
          <p:nvPr/>
        </p:nvSpPr>
        <p:spPr>
          <a:xfrm>
            <a:off x="1371600" y="4387850"/>
            <a:ext cx="385828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AF9F6"/>
                </a:solidFill>
                <a:latin typeface="IBM Plex Sans" pitchFamily="34" charset="0"/>
                <a:ea typeface="IBM Plex Sans" pitchFamily="34" charset="-122"/>
                <a:cs typeface="IBM Plex Sans" pitchFamily="34" charset="-120"/>
              </a:rPr>
              <a:t>Sebastian Rojas Díaz  ·  Candidate Presentation</a:t>
            </a:r>
            <a:endParaRPr lang="en-US" sz="1400" dirty="0"/>
          </a:p>
        </p:txBody>
      </p:sp>
      <p:pic>
        <p:nvPicPr>
          <p:cNvPr id="9" name="Picture 8">
            <a:extLst>
              <a:ext uri="{FF2B5EF4-FFF2-40B4-BE49-F238E27FC236}">
                <a16:creationId xmlns:a16="http://schemas.microsoft.com/office/drawing/2014/main" id="{5DBABF67-BA63-8AA1-2B2F-8FED64AB8E47}"/>
              </a:ext>
            </a:extLst>
          </p:cNvPr>
          <p:cNvPicPr>
            <a:picLocks noChangeAspect="1"/>
          </p:cNvPicPr>
          <p:nvPr/>
        </p:nvPicPr>
        <p:blipFill>
          <a:blip r:embed="rId3"/>
          <a:srcRect l="17114" t="30555" r="16443" b="30043"/>
          <a:stretch>
            <a:fillRect/>
          </a:stretch>
        </p:blipFill>
        <p:spPr>
          <a:xfrm>
            <a:off x="9883724" y="315687"/>
            <a:ext cx="1812468" cy="60415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D6293F"/>
                </a:solidFill>
                <a:latin typeface="IBM Plex Sans" pitchFamily="34" charset="0"/>
                <a:ea typeface="IBM Plex Sans" pitchFamily="34" charset="-122"/>
                <a:cs typeface="IBM Plex Sans" pitchFamily="34" charset="-120"/>
              </a:rPr>
              <a:t>WHO I AM</a:t>
            </a:r>
            <a:endParaRPr lang="en-US" sz="1200" dirty="0"/>
          </a:p>
        </p:txBody>
      </p:sp>
      <p:sp>
        <p:nvSpPr>
          <p:cNvPr id="3" name="Text 1"/>
          <p:cNvSpPr/>
          <p:nvPr/>
        </p:nvSpPr>
        <p:spPr>
          <a:xfrm>
            <a:off x="812800" y="12547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dirty="0">
                <a:solidFill>
                  <a:srgbClr val="1B1B1F"/>
                </a:solidFill>
                <a:latin typeface="Space Grotesk" pitchFamily="34" charset="0"/>
                <a:ea typeface="Space Grotesk" pitchFamily="34" charset="-122"/>
                <a:cs typeface="Space Grotesk" pitchFamily="34" charset="-120"/>
              </a:rPr>
              <a:t>Turning technical complexity into deals won</a:t>
            </a:r>
            <a:endParaRPr lang="en-US" sz="3000" dirty="0"/>
          </a:p>
        </p:txBody>
      </p:sp>
      <p:sp>
        <p:nvSpPr>
          <p:cNvPr id="4" name="Text 2"/>
          <p:cNvSpPr/>
          <p:nvPr/>
        </p:nvSpPr>
        <p:spPr>
          <a:xfrm>
            <a:off x="812800" y="1921470"/>
            <a:ext cx="5974031" cy="105648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A4F57"/>
                </a:solidFill>
                <a:latin typeface="IBM Plex Sans" pitchFamily="34" charset="0"/>
                <a:ea typeface="IBM Plex Sans" pitchFamily="34" charset="-122"/>
                <a:cs typeface="IBM Plex Sans" pitchFamily="34" charset="-120"/>
              </a:rPr>
              <a:t>Senior Presales Engineer and Solutions Architect at Flowable and Bizagi. Executive discovery, PoCs, and enterprise deals across Financial Services, Insurance, Manufacturing, Healthcare, and the Public Sector, in Europe, North America, LATAM, and the Middle East.</a:t>
            </a:r>
            <a:endParaRPr lang="en-US" sz="1400" dirty="0"/>
          </a:p>
        </p:txBody>
      </p:sp>
      <p:sp>
        <p:nvSpPr>
          <p:cNvPr id="5" name="Text 3"/>
          <p:cNvSpPr/>
          <p:nvPr/>
        </p:nvSpPr>
        <p:spPr>
          <a:xfrm>
            <a:off x="812800" y="3104952"/>
            <a:ext cx="5974031"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3D5A80"/>
                </a:solidFill>
                <a:latin typeface="IBM Plex Sans" pitchFamily="34" charset="0"/>
                <a:ea typeface="IBM Plex Sans" pitchFamily="34" charset="-122"/>
                <a:cs typeface="IBM Plex Sans" pitchFamily="34" charset="-120"/>
              </a:rPr>
              <a:t>MY RFP PRACTICE, SPECIFICALLY</a:t>
            </a:r>
            <a:endParaRPr lang="en-US" sz="1200" dirty="0"/>
          </a:p>
        </p:txBody>
      </p:sp>
      <p:sp>
        <p:nvSpPr>
          <p:cNvPr id="6" name="Text 4"/>
          <p:cNvSpPr/>
          <p:nvPr/>
        </p:nvSpPr>
        <p:spPr>
          <a:xfrm>
            <a:off x="812800" y="3470672"/>
            <a:ext cx="5974031" cy="1311275"/>
          </a:xfrm>
          <a:prstGeom prst="rect">
            <a:avLst/>
          </a:prstGeom>
          <a:noFill/>
          <a:ln/>
        </p:spPr>
        <p:txBody>
          <a:bodyPr wrap="square" lIns="0" tIns="0" rIns="0" bIns="0" rtlCol="0" anchor="t">
            <a:normAutofit/>
          </a:bodyPr>
          <a:lstStyle/>
          <a:p>
            <a:pPr marL="205740" indent="-169037" algn="l">
              <a:lnSpc>
                <a:spcPts val="2025"/>
              </a:lnSpc>
              <a:buSzPct val="100000"/>
              <a:buChar char="•"/>
            </a:pPr>
            <a:r>
              <a:rPr lang="en-US" sz="1350" dirty="0">
                <a:solidFill>
                  <a:srgbClr val="4A4F57"/>
                </a:solidFill>
                <a:latin typeface="IBM Plex Sans" pitchFamily="34" charset="0"/>
                <a:ea typeface="IBM Plex Sans" pitchFamily="34" charset="-122"/>
                <a:cs typeface="IBM Plex Sans" pitchFamily="34" charset="-120"/>
              </a:rPr>
              <a:t>Owned RFP/RFI response for the last 5 years — 20 to 25 bids a year</a:t>
            </a:r>
            <a:endParaRPr lang="en-US" sz="1350" dirty="0"/>
          </a:p>
          <a:p>
            <a:pPr marL="205740" indent="-169037" algn="l">
              <a:lnSpc>
                <a:spcPts val="2025"/>
              </a:lnSpc>
              <a:buSzPct val="100000"/>
              <a:buChar char="•"/>
            </a:pPr>
            <a:r>
              <a:rPr lang="en-US" sz="1350" dirty="0">
                <a:solidFill>
                  <a:srgbClr val="4A4F57"/>
                </a:solidFill>
                <a:latin typeface="IBM Plex Sans" pitchFamily="34" charset="0"/>
                <a:ea typeface="IBM Plex Sans" pitchFamily="34" charset="-122"/>
                <a:cs typeface="IBM Plex Sans" pitchFamily="34" charset="-120"/>
              </a:rPr>
              <a:t>Worked with dedicated tools (Responsive/RFPIO) and pure AI-assisted workflows. I've seen what each does well, and where each breaks</a:t>
            </a:r>
            <a:endParaRPr lang="en-US" sz="1350" dirty="0"/>
          </a:p>
          <a:p>
            <a:pPr marL="205740" indent="-169037" algn="l">
              <a:lnSpc>
                <a:spcPts val="2025"/>
              </a:lnSpc>
              <a:buSzPct val="100000"/>
              <a:buChar char="•"/>
            </a:pPr>
            <a:r>
              <a:rPr lang="en-US" sz="1350" dirty="0">
                <a:solidFill>
                  <a:srgbClr val="4A4F57"/>
                </a:solidFill>
                <a:latin typeface="IBM Plex Sans" pitchFamily="34" charset="0"/>
                <a:ea typeface="IBM Plex Sans" pitchFamily="34" charset="-122"/>
                <a:cs typeface="IBM Plex Sans" pitchFamily="34" charset="-120"/>
              </a:rPr>
              <a:t>Hands-on with Gen AI, LLM integration, prompt engineering and AI governance.</a:t>
            </a:r>
            <a:endParaRPr lang="en-US" sz="1350" dirty="0"/>
          </a:p>
        </p:txBody>
      </p:sp>
      <p:sp>
        <p:nvSpPr>
          <p:cNvPr id="7" name="Shape 5"/>
          <p:cNvSpPr/>
          <p:nvPr/>
        </p:nvSpPr>
        <p:spPr>
          <a:xfrm>
            <a:off x="6920805" y="1924645"/>
            <a:ext cx="4455220" cy="1215827"/>
          </a:xfrm>
          <a:prstGeom prst="roundRect">
            <a:avLst>
              <a:gd name="adj" fmla="val 8095"/>
            </a:avLst>
          </a:prstGeom>
          <a:solidFill>
            <a:srgbClr val="FFFFFF"/>
          </a:solidFill>
          <a:ln w="6350">
            <a:solidFill>
              <a:srgbClr val="E4E2DD"/>
            </a:solidFill>
            <a:prstDash val="solid"/>
          </a:ln>
        </p:spPr>
        <p:txBody>
          <a:bodyPr/>
          <a:lstStyle/>
          <a:p>
            <a:endParaRPr lang="es-CO" dirty="0"/>
          </a:p>
        </p:txBody>
      </p:sp>
      <p:sp>
        <p:nvSpPr>
          <p:cNvPr id="8" name="Text 6"/>
          <p:cNvSpPr/>
          <p:nvPr/>
        </p:nvSpPr>
        <p:spPr>
          <a:xfrm>
            <a:off x="7127180" y="2197298"/>
            <a:ext cx="4163744"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1B1B1F"/>
                </a:solidFill>
                <a:latin typeface="IBM Plex Sans" pitchFamily="34" charset="0"/>
                <a:ea typeface="IBM Plex Sans" pitchFamily="34" charset="-122"/>
                <a:cs typeface="IBM Plex Sans" pitchFamily="34" charset="-120"/>
              </a:rPr>
              <a:t>20 to 25~</a:t>
            </a:r>
            <a:endParaRPr lang="en-US" sz="3200" dirty="0"/>
          </a:p>
        </p:txBody>
      </p:sp>
      <p:sp>
        <p:nvSpPr>
          <p:cNvPr id="9" name="Text 7"/>
          <p:cNvSpPr/>
          <p:nvPr/>
        </p:nvSpPr>
        <p:spPr>
          <a:xfrm>
            <a:off x="7127180" y="2654498"/>
            <a:ext cx="416374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7"/>
                </a:solidFill>
                <a:latin typeface="IBM Plex Sans" pitchFamily="34" charset="0"/>
                <a:ea typeface="IBM Plex Sans" pitchFamily="34" charset="-122"/>
                <a:cs typeface="IBM Plex Sans" pitchFamily="34" charset="-120"/>
              </a:rPr>
              <a:t>RFPs led per year, last 5 years</a:t>
            </a:r>
            <a:endParaRPr lang="en-US" sz="1200" dirty="0"/>
          </a:p>
        </p:txBody>
      </p:sp>
      <p:sp>
        <p:nvSpPr>
          <p:cNvPr id="10" name="Shape 8"/>
          <p:cNvSpPr/>
          <p:nvPr/>
        </p:nvSpPr>
        <p:spPr>
          <a:xfrm>
            <a:off x="6920805" y="3273822"/>
            <a:ext cx="4455220" cy="1215827"/>
          </a:xfrm>
          <a:prstGeom prst="roundRect">
            <a:avLst>
              <a:gd name="adj" fmla="val 8095"/>
            </a:avLst>
          </a:prstGeom>
          <a:solidFill>
            <a:srgbClr val="FFFFFF"/>
          </a:solidFill>
          <a:ln w="6350">
            <a:solidFill>
              <a:srgbClr val="E4E2DD"/>
            </a:solidFill>
            <a:prstDash val="solid"/>
          </a:ln>
        </p:spPr>
        <p:txBody>
          <a:bodyPr/>
          <a:lstStyle/>
          <a:p>
            <a:endParaRPr lang="es-CO"/>
          </a:p>
        </p:txBody>
      </p:sp>
      <p:sp>
        <p:nvSpPr>
          <p:cNvPr id="11" name="Text 9"/>
          <p:cNvSpPr/>
          <p:nvPr/>
        </p:nvSpPr>
        <p:spPr>
          <a:xfrm>
            <a:off x="7127180" y="3546475"/>
            <a:ext cx="4163744"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1B1B1F"/>
                </a:solidFill>
                <a:latin typeface="IBM Plex Sans" pitchFamily="34" charset="0"/>
                <a:ea typeface="IBM Plex Sans" pitchFamily="34" charset="-122"/>
                <a:cs typeface="IBM Plex Sans" pitchFamily="34" charset="-120"/>
              </a:rPr>
              <a:t>€150K → €5M</a:t>
            </a:r>
            <a:endParaRPr lang="en-US" sz="3200" dirty="0"/>
          </a:p>
        </p:txBody>
      </p:sp>
      <p:sp>
        <p:nvSpPr>
          <p:cNvPr id="12" name="Text 10"/>
          <p:cNvSpPr/>
          <p:nvPr/>
        </p:nvSpPr>
        <p:spPr>
          <a:xfrm>
            <a:off x="7127180" y="4003675"/>
            <a:ext cx="416374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7"/>
                </a:solidFill>
                <a:latin typeface="IBM Plex Sans" pitchFamily="34" charset="0"/>
                <a:ea typeface="IBM Plex Sans" pitchFamily="34" charset="-122"/>
                <a:cs typeface="IBM Plex Sans" pitchFamily="34" charset="-120"/>
              </a:rPr>
              <a:t>typical deal to renewal ARR at Bizagi</a:t>
            </a:r>
            <a:endParaRPr lang="en-US" sz="1200" dirty="0"/>
          </a:p>
        </p:txBody>
      </p:sp>
      <p:sp>
        <p:nvSpPr>
          <p:cNvPr id="13" name="Shape 11"/>
          <p:cNvSpPr/>
          <p:nvPr/>
        </p:nvSpPr>
        <p:spPr>
          <a:xfrm>
            <a:off x="6920805" y="4622998"/>
            <a:ext cx="4455220" cy="1215827"/>
          </a:xfrm>
          <a:prstGeom prst="roundRect">
            <a:avLst>
              <a:gd name="adj" fmla="val 8095"/>
            </a:avLst>
          </a:prstGeom>
          <a:solidFill>
            <a:srgbClr val="FFFFFF"/>
          </a:solidFill>
          <a:ln w="6350">
            <a:solidFill>
              <a:srgbClr val="E4E2DD"/>
            </a:solidFill>
            <a:prstDash val="solid"/>
          </a:ln>
        </p:spPr>
        <p:txBody>
          <a:bodyPr/>
          <a:lstStyle/>
          <a:p>
            <a:endParaRPr lang="es-CO"/>
          </a:p>
        </p:txBody>
      </p:sp>
      <p:sp>
        <p:nvSpPr>
          <p:cNvPr id="14" name="Text 12"/>
          <p:cNvSpPr/>
          <p:nvPr/>
        </p:nvSpPr>
        <p:spPr>
          <a:xfrm>
            <a:off x="7127180" y="4829373"/>
            <a:ext cx="4163744" cy="392410"/>
          </a:xfrm>
          <a:prstGeom prst="rect">
            <a:avLst/>
          </a:prstGeom>
          <a:noFill/>
          <a:ln/>
        </p:spPr>
        <p:txBody>
          <a:bodyPr wrap="square" lIns="0" tIns="0" rIns="0" bIns="0" rtlCol="0" anchor="t">
            <a:normAutofit/>
          </a:bodyPr>
          <a:lstStyle/>
          <a:p>
            <a:pPr marL="0" indent="0" algn="l">
              <a:lnSpc>
                <a:spcPts val="2920"/>
              </a:lnSpc>
              <a:buNone/>
            </a:pPr>
            <a:r>
              <a:rPr lang="en-US" sz="2920" b="1" dirty="0">
                <a:solidFill>
                  <a:srgbClr val="1B1B1F"/>
                </a:solidFill>
                <a:latin typeface="IBM Plex Sans" pitchFamily="34" charset="0"/>
                <a:ea typeface="IBM Plex Sans" pitchFamily="34" charset="-122"/>
                <a:cs typeface="IBM Plex Sans" pitchFamily="34" charset="-120"/>
              </a:rPr>
              <a:t>5 regulated industries</a:t>
            </a:r>
            <a:endParaRPr lang="en-US" sz="2920" dirty="0"/>
          </a:p>
        </p:txBody>
      </p:sp>
      <p:sp>
        <p:nvSpPr>
          <p:cNvPr id="15" name="Text 13"/>
          <p:cNvSpPr/>
          <p:nvPr/>
        </p:nvSpPr>
        <p:spPr>
          <a:xfrm>
            <a:off x="7127180" y="5247184"/>
            <a:ext cx="4163744" cy="410666"/>
          </a:xfrm>
          <a:prstGeom prst="rect">
            <a:avLst/>
          </a:prstGeom>
          <a:noFill/>
          <a:ln/>
        </p:spPr>
        <p:txBody>
          <a:bodyPr wrap="square" lIns="0" tIns="0" rIns="0" bIns="0" rtlCol="0" anchor="t">
            <a:normAutofit/>
          </a:bodyPr>
          <a:lstStyle/>
          <a:p>
            <a:pPr marL="0" indent="0" algn="l">
              <a:lnSpc>
                <a:spcPts val="1533"/>
              </a:lnSpc>
              <a:buNone/>
            </a:pPr>
            <a:r>
              <a:rPr lang="en-US" sz="1095" dirty="0">
                <a:solidFill>
                  <a:srgbClr val="4A4F57"/>
                </a:solidFill>
                <a:latin typeface="IBM Plex Sans" pitchFamily="34" charset="0"/>
                <a:ea typeface="IBM Plex Sans" pitchFamily="34" charset="-122"/>
                <a:cs typeface="IBM Plex Sans" pitchFamily="34" charset="-120"/>
              </a:rPr>
              <a:t>Financial Services, Insurance, Manufacturing, Healthcare, Public Sector</a:t>
            </a:r>
            <a:endParaRPr lang="en-US" sz="1095" dirty="0"/>
          </a:p>
        </p:txBody>
      </p:sp>
      <p:sp>
        <p:nvSpPr>
          <p:cNvPr id="16" name="Text 14"/>
          <p:cNvSpPr/>
          <p:nvPr/>
        </p:nvSpPr>
        <p:spPr>
          <a:xfrm>
            <a:off x="812800" y="6238280"/>
            <a:ext cx="461580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F98"/>
                </a:solidFill>
                <a:latin typeface="IBM Plex Sans" pitchFamily="34" charset="0"/>
                <a:ea typeface="IBM Plex Sans" pitchFamily="34" charset="-122"/>
                <a:cs typeface="IBM Plex Sans" pitchFamily="34" charset="-120"/>
              </a:rPr>
              <a:t>Sebastian Rojas Díaz — CoE RFP Manager, Candidate Presentation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D6293F"/>
                </a:solidFill>
                <a:latin typeface="IBM Plex Sans" pitchFamily="34" charset="0"/>
                <a:ea typeface="IBM Plex Sans" pitchFamily="34" charset="-122"/>
                <a:cs typeface="IBM Plex Sans" pitchFamily="34" charset="-120"/>
              </a:rPr>
              <a:t>WHAT I'LL COVER</a:t>
            </a:r>
            <a:endParaRPr lang="en-US" sz="1200" dirty="0"/>
          </a:p>
        </p:txBody>
      </p:sp>
      <p:sp>
        <p:nvSpPr>
          <p:cNvPr id="3" name="Text 1"/>
          <p:cNvSpPr/>
          <p:nvPr/>
        </p:nvSpPr>
        <p:spPr>
          <a:xfrm>
            <a:off x="812800" y="13309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dirty="0">
                <a:solidFill>
                  <a:srgbClr val="1B1B1F"/>
                </a:solidFill>
                <a:latin typeface="Space Grotesk" pitchFamily="34" charset="0"/>
                <a:ea typeface="Space Grotesk" pitchFamily="34" charset="-122"/>
                <a:cs typeface="Space Grotesk" pitchFamily="34" charset="-120"/>
              </a:rPr>
              <a:t>Three things, in the next thirty minutes</a:t>
            </a:r>
            <a:endParaRPr lang="en-US" sz="3000" dirty="0"/>
          </a:p>
        </p:txBody>
      </p:sp>
      <p:sp>
        <p:nvSpPr>
          <p:cNvPr id="4" name="Shape 2"/>
          <p:cNvSpPr/>
          <p:nvPr/>
        </p:nvSpPr>
        <p:spPr>
          <a:xfrm>
            <a:off x="815975" y="2077045"/>
            <a:ext cx="3346450" cy="3761780"/>
          </a:xfrm>
          <a:prstGeom prst="roundRect">
            <a:avLst>
              <a:gd name="adj" fmla="val 3700"/>
            </a:avLst>
          </a:prstGeom>
          <a:solidFill>
            <a:srgbClr val="FFFFFF"/>
          </a:solidFill>
          <a:ln w="6350">
            <a:solidFill>
              <a:srgbClr val="E4E2DD"/>
            </a:solidFill>
            <a:prstDash val="solid"/>
          </a:ln>
        </p:spPr>
        <p:txBody>
          <a:bodyPr/>
          <a:lstStyle/>
          <a:p>
            <a:endParaRPr lang="es-CO"/>
          </a:p>
        </p:txBody>
      </p:sp>
      <p:sp>
        <p:nvSpPr>
          <p:cNvPr id="5" name="Text 3"/>
          <p:cNvSpPr/>
          <p:nvPr/>
        </p:nvSpPr>
        <p:spPr>
          <a:xfrm>
            <a:off x="1098550" y="2359620"/>
            <a:ext cx="2864739"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D6293F"/>
                </a:solidFill>
                <a:latin typeface="IBM Plex Sans" pitchFamily="34" charset="0"/>
                <a:ea typeface="IBM Plex Sans" pitchFamily="34" charset="-122"/>
                <a:cs typeface="IBM Plex Sans" pitchFamily="34" charset="-120"/>
              </a:rPr>
              <a:t>A</a:t>
            </a:r>
            <a:endParaRPr lang="en-US" sz="3200" dirty="0"/>
          </a:p>
        </p:txBody>
      </p:sp>
      <p:sp>
        <p:nvSpPr>
          <p:cNvPr id="6" name="Text 4"/>
          <p:cNvSpPr/>
          <p:nvPr/>
        </p:nvSpPr>
        <p:spPr>
          <a:xfrm>
            <a:off x="1098550" y="2893020"/>
            <a:ext cx="286473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3D5A80"/>
                </a:solidFill>
                <a:latin typeface="IBM Plex Sans" pitchFamily="34" charset="0"/>
                <a:ea typeface="IBM Plex Sans" pitchFamily="34" charset="-122"/>
                <a:cs typeface="IBM Plex Sans" pitchFamily="34" charset="-120"/>
              </a:rPr>
              <a:t>PART A · 10 MIN</a:t>
            </a:r>
            <a:endParaRPr lang="en-US" sz="1200" dirty="0"/>
          </a:p>
        </p:txBody>
      </p:sp>
      <p:sp>
        <p:nvSpPr>
          <p:cNvPr id="7" name="Text 5"/>
          <p:cNvSpPr/>
          <p:nvPr/>
        </p:nvSpPr>
        <p:spPr>
          <a:xfrm>
            <a:off x="1098550" y="3233341"/>
            <a:ext cx="2864739"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B1B1F"/>
                </a:solidFill>
                <a:latin typeface="IBM Plex Sans" pitchFamily="34" charset="0"/>
                <a:ea typeface="IBM Plex Sans" pitchFamily="34" charset="-122"/>
                <a:cs typeface="IBM Plex Sans" pitchFamily="34" charset="-120"/>
              </a:rPr>
              <a:t>The 30 / 90 / 180-day plan</a:t>
            </a:r>
            <a:endParaRPr lang="en-US" sz="1700" dirty="0"/>
          </a:p>
        </p:txBody>
      </p:sp>
      <p:sp>
        <p:nvSpPr>
          <p:cNvPr id="8" name="Text 6"/>
          <p:cNvSpPr/>
          <p:nvPr/>
        </p:nvSpPr>
        <p:spPr>
          <a:xfrm>
            <a:off x="1098550" y="3619401"/>
            <a:ext cx="2864739" cy="50413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4F57"/>
                </a:solidFill>
                <a:latin typeface="IBM Plex Sans" pitchFamily="34" charset="0"/>
                <a:ea typeface="IBM Plex Sans" pitchFamily="34" charset="-122"/>
                <a:cs typeface="IBM Plex Sans" pitchFamily="34" charset="-120"/>
              </a:rPr>
              <a:t>How I'd scope, build, and grow the CoE RFP function</a:t>
            </a:r>
            <a:endParaRPr lang="en-US" sz="1300" dirty="0"/>
          </a:p>
        </p:txBody>
      </p:sp>
      <p:sp>
        <p:nvSpPr>
          <p:cNvPr id="9" name="Shape 7"/>
          <p:cNvSpPr/>
          <p:nvPr/>
        </p:nvSpPr>
        <p:spPr>
          <a:xfrm>
            <a:off x="4422775" y="2077045"/>
            <a:ext cx="3346450" cy="3761780"/>
          </a:xfrm>
          <a:prstGeom prst="roundRect">
            <a:avLst>
              <a:gd name="adj" fmla="val 3700"/>
            </a:avLst>
          </a:prstGeom>
          <a:solidFill>
            <a:srgbClr val="FFFFFF"/>
          </a:solidFill>
          <a:ln w="6350">
            <a:solidFill>
              <a:srgbClr val="E4E2DD"/>
            </a:solidFill>
            <a:prstDash val="solid"/>
          </a:ln>
        </p:spPr>
        <p:txBody>
          <a:bodyPr/>
          <a:lstStyle/>
          <a:p>
            <a:endParaRPr lang="es-CO"/>
          </a:p>
        </p:txBody>
      </p:sp>
      <p:sp>
        <p:nvSpPr>
          <p:cNvPr id="10" name="Text 8"/>
          <p:cNvSpPr/>
          <p:nvPr/>
        </p:nvSpPr>
        <p:spPr>
          <a:xfrm>
            <a:off x="4705350" y="2359620"/>
            <a:ext cx="2864739"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D6293F"/>
                </a:solidFill>
                <a:latin typeface="IBM Plex Sans" pitchFamily="34" charset="0"/>
                <a:ea typeface="IBM Plex Sans" pitchFamily="34" charset="-122"/>
                <a:cs typeface="IBM Plex Sans" pitchFamily="34" charset="-120"/>
              </a:rPr>
              <a:t>B</a:t>
            </a:r>
            <a:endParaRPr lang="en-US" sz="3200" dirty="0"/>
          </a:p>
        </p:txBody>
      </p:sp>
      <p:sp>
        <p:nvSpPr>
          <p:cNvPr id="11" name="Text 9"/>
          <p:cNvSpPr/>
          <p:nvPr/>
        </p:nvSpPr>
        <p:spPr>
          <a:xfrm>
            <a:off x="4705350" y="2893020"/>
            <a:ext cx="286473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3D5A80"/>
                </a:solidFill>
                <a:latin typeface="IBM Plex Sans" pitchFamily="34" charset="0"/>
                <a:ea typeface="IBM Plex Sans" pitchFamily="34" charset="-122"/>
                <a:cs typeface="IBM Plex Sans" pitchFamily="34" charset="-120"/>
              </a:rPr>
              <a:t>PART B · 15 MIN</a:t>
            </a:r>
            <a:endParaRPr lang="en-US" sz="1200" dirty="0"/>
          </a:p>
        </p:txBody>
      </p:sp>
      <p:sp>
        <p:nvSpPr>
          <p:cNvPr id="12" name="Text 10"/>
          <p:cNvSpPr/>
          <p:nvPr/>
        </p:nvSpPr>
        <p:spPr>
          <a:xfrm>
            <a:off x="4705350" y="3233341"/>
            <a:ext cx="2864739"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B1B1F"/>
                </a:solidFill>
                <a:latin typeface="IBM Plex Sans" pitchFamily="34" charset="0"/>
                <a:ea typeface="IBM Plex Sans" pitchFamily="34" charset="-122"/>
                <a:cs typeface="IBM Plex Sans" pitchFamily="34" charset="-120"/>
              </a:rPr>
              <a:t>Live prototype demo</a:t>
            </a:r>
            <a:endParaRPr lang="en-US" sz="1700" dirty="0"/>
          </a:p>
        </p:txBody>
      </p:sp>
      <p:sp>
        <p:nvSpPr>
          <p:cNvPr id="13" name="Text 11"/>
          <p:cNvSpPr/>
          <p:nvPr/>
        </p:nvSpPr>
        <p:spPr>
          <a:xfrm>
            <a:off x="4705350" y="3619401"/>
            <a:ext cx="2864739" cy="50413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4F57"/>
                </a:solidFill>
                <a:latin typeface="IBM Plex Sans" pitchFamily="34" charset="0"/>
                <a:ea typeface="IBM Plex Sans" pitchFamily="34" charset="-122"/>
                <a:cs typeface="IBM Plex Sans" pitchFamily="34" charset="-120"/>
              </a:rPr>
              <a:t>Pursuit: A working example. Upload a tender, get sourced, draft answers</a:t>
            </a:r>
            <a:endParaRPr lang="en-US" sz="1300" dirty="0"/>
          </a:p>
        </p:txBody>
      </p:sp>
      <p:sp>
        <p:nvSpPr>
          <p:cNvPr id="14" name="Shape 12"/>
          <p:cNvSpPr/>
          <p:nvPr/>
        </p:nvSpPr>
        <p:spPr>
          <a:xfrm>
            <a:off x="8029575" y="2077045"/>
            <a:ext cx="3346450" cy="3761780"/>
          </a:xfrm>
          <a:prstGeom prst="roundRect">
            <a:avLst>
              <a:gd name="adj" fmla="val 3700"/>
            </a:avLst>
          </a:prstGeom>
          <a:solidFill>
            <a:srgbClr val="FFFFFF"/>
          </a:solidFill>
          <a:ln w="6350">
            <a:solidFill>
              <a:srgbClr val="E4E2DD"/>
            </a:solidFill>
            <a:prstDash val="solid"/>
          </a:ln>
        </p:spPr>
        <p:txBody>
          <a:bodyPr/>
          <a:lstStyle/>
          <a:p>
            <a:endParaRPr lang="es-CO"/>
          </a:p>
        </p:txBody>
      </p:sp>
      <p:sp>
        <p:nvSpPr>
          <p:cNvPr id="15" name="Text 13"/>
          <p:cNvSpPr/>
          <p:nvPr/>
        </p:nvSpPr>
        <p:spPr>
          <a:xfrm>
            <a:off x="8312150" y="2359620"/>
            <a:ext cx="2864739"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D6293F"/>
                </a:solidFill>
                <a:latin typeface="IBM Plex Sans" pitchFamily="34" charset="0"/>
                <a:ea typeface="IBM Plex Sans" pitchFamily="34" charset="-122"/>
                <a:cs typeface="IBM Plex Sans" pitchFamily="34" charset="-120"/>
              </a:rPr>
              <a:t>C</a:t>
            </a:r>
            <a:endParaRPr lang="en-US" sz="3200" dirty="0"/>
          </a:p>
        </p:txBody>
      </p:sp>
      <p:sp>
        <p:nvSpPr>
          <p:cNvPr id="16" name="Text 14"/>
          <p:cNvSpPr/>
          <p:nvPr/>
        </p:nvSpPr>
        <p:spPr>
          <a:xfrm>
            <a:off x="8312150" y="2893020"/>
            <a:ext cx="286473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3D5A80"/>
                </a:solidFill>
                <a:latin typeface="IBM Plex Sans" pitchFamily="34" charset="0"/>
                <a:ea typeface="IBM Plex Sans" pitchFamily="34" charset="-122"/>
                <a:cs typeface="IBM Plex Sans" pitchFamily="34" charset="-120"/>
              </a:rPr>
              <a:t>PART C · 5 MIN</a:t>
            </a:r>
            <a:endParaRPr lang="en-US" sz="1200" dirty="0"/>
          </a:p>
        </p:txBody>
      </p:sp>
      <p:sp>
        <p:nvSpPr>
          <p:cNvPr id="17" name="Text 15"/>
          <p:cNvSpPr/>
          <p:nvPr/>
        </p:nvSpPr>
        <p:spPr>
          <a:xfrm>
            <a:off x="8312150" y="3233341"/>
            <a:ext cx="2864739"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B1B1F"/>
                </a:solidFill>
                <a:latin typeface="IBM Plex Sans" pitchFamily="34" charset="0"/>
                <a:ea typeface="IBM Plex Sans" pitchFamily="34" charset="-122"/>
                <a:cs typeface="IBM Plex Sans" pitchFamily="34" charset="-120"/>
              </a:rPr>
              <a:t>Vision beyond year one</a:t>
            </a:r>
            <a:endParaRPr lang="en-US" sz="1700" dirty="0"/>
          </a:p>
        </p:txBody>
      </p:sp>
      <p:sp>
        <p:nvSpPr>
          <p:cNvPr id="18" name="Text 16"/>
          <p:cNvSpPr/>
          <p:nvPr/>
        </p:nvSpPr>
        <p:spPr>
          <a:xfrm>
            <a:off x="8312150" y="3619401"/>
            <a:ext cx="2864739" cy="50413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4F57"/>
                </a:solidFill>
                <a:latin typeface="IBM Plex Sans" pitchFamily="34" charset="0"/>
                <a:ea typeface="IBM Plex Sans" pitchFamily="34" charset="-122"/>
                <a:cs typeface="IBM Plex Sans" pitchFamily="34" charset="-120"/>
              </a:rPr>
              <a:t>Where AI and self-service take the field SE next</a:t>
            </a:r>
            <a:endParaRPr lang="en-US" sz="1300" dirty="0"/>
          </a:p>
        </p:txBody>
      </p:sp>
      <p:sp>
        <p:nvSpPr>
          <p:cNvPr id="19" name="Text 17"/>
          <p:cNvSpPr/>
          <p:nvPr/>
        </p:nvSpPr>
        <p:spPr>
          <a:xfrm>
            <a:off x="812800" y="6238280"/>
            <a:ext cx="461580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F98"/>
                </a:solidFill>
                <a:latin typeface="IBM Plex Sans" pitchFamily="34" charset="0"/>
                <a:ea typeface="IBM Plex Sans" pitchFamily="34" charset="-122"/>
                <a:cs typeface="IBM Plex Sans" pitchFamily="34" charset="-120"/>
              </a:rPr>
              <a:t>Sebastian Rojas Díaz — CoE RFP Manager, Candidate Presentation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D6293F"/>
                </a:solidFill>
                <a:latin typeface="IBM Plex Sans" pitchFamily="34" charset="0"/>
                <a:ea typeface="IBM Plex Sans" pitchFamily="34" charset="-122"/>
                <a:cs typeface="IBM Plex Sans" pitchFamily="34" charset="-120"/>
              </a:rPr>
              <a:t>PART A — THE PLAN</a:t>
            </a:r>
            <a:endParaRPr lang="en-US" sz="1200" dirty="0"/>
          </a:p>
        </p:txBody>
      </p:sp>
      <p:sp>
        <p:nvSpPr>
          <p:cNvPr id="3" name="Text 1"/>
          <p:cNvSpPr/>
          <p:nvPr/>
        </p:nvSpPr>
        <p:spPr>
          <a:xfrm>
            <a:off x="812800" y="1254720"/>
            <a:ext cx="10883392" cy="448915"/>
          </a:xfrm>
          <a:prstGeom prst="rect">
            <a:avLst/>
          </a:prstGeom>
          <a:noFill/>
          <a:ln/>
        </p:spPr>
        <p:txBody>
          <a:bodyPr wrap="square" lIns="0" tIns="0" rIns="0" bIns="0" rtlCol="0" anchor="t">
            <a:normAutofit/>
          </a:bodyPr>
          <a:lstStyle/>
          <a:p>
            <a:pPr marL="0" indent="0" algn="l">
              <a:lnSpc>
                <a:spcPts val="3335"/>
              </a:lnSpc>
              <a:buNone/>
            </a:pPr>
            <a:r>
              <a:rPr lang="en-US" sz="2900" b="1" dirty="0">
                <a:solidFill>
                  <a:srgbClr val="1B1B1F"/>
                </a:solidFill>
                <a:latin typeface="Space Grotesk" pitchFamily="34" charset="0"/>
                <a:ea typeface="Space Grotesk" pitchFamily="34" charset="-122"/>
                <a:cs typeface="Space Grotesk" pitchFamily="34" charset="-120"/>
              </a:rPr>
              <a:t>Every RFP has two moments: scoping and responding</a:t>
            </a:r>
            <a:endParaRPr lang="en-US" sz="2900" dirty="0"/>
          </a:p>
        </p:txBody>
      </p:sp>
      <p:sp>
        <p:nvSpPr>
          <p:cNvPr id="4" name="Text 2"/>
          <p:cNvSpPr/>
          <p:nvPr/>
        </p:nvSpPr>
        <p:spPr>
          <a:xfrm>
            <a:off x="812800" y="1906836"/>
            <a:ext cx="9156700" cy="522585"/>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4F57"/>
                </a:solidFill>
                <a:latin typeface="IBM Plex Sans" pitchFamily="34" charset="0"/>
                <a:ea typeface="IBM Plex Sans" pitchFamily="34" charset="-122"/>
                <a:cs typeface="IBM Plex Sans" pitchFamily="34" charset="-120"/>
              </a:rPr>
              <a:t>Today, SEs answer RFPs alongside their deal work, with little shared content and no common bar for where to spend effort. I'd build the function around the two moments every bid already goes through.</a:t>
            </a:r>
            <a:endParaRPr lang="en-US" sz="1350" dirty="0"/>
          </a:p>
        </p:txBody>
      </p:sp>
      <p:sp>
        <p:nvSpPr>
          <p:cNvPr id="5" name="Shape 3"/>
          <p:cNvSpPr/>
          <p:nvPr/>
        </p:nvSpPr>
        <p:spPr>
          <a:xfrm>
            <a:off x="815975" y="2635796"/>
            <a:ext cx="4895850" cy="3203029"/>
          </a:xfrm>
          <a:prstGeom prst="roundRect">
            <a:avLst>
              <a:gd name="adj" fmla="val 3866"/>
            </a:avLst>
          </a:prstGeom>
          <a:solidFill>
            <a:srgbClr val="FFFFFF"/>
          </a:solidFill>
          <a:ln w="6350">
            <a:solidFill>
              <a:srgbClr val="E4E2DD"/>
            </a:solidFill>
            <a:prstDash val="solid"/>
          </a:ln>
        </p:spPr>
        <p:txBody>
          <a:bodyPr/>
          <a:lstStyle/>
          <a:p>
            <a:endParaRPr lang="es-CO"/>
          </a:p>
        </p:txBody>
      </p:sp>
      <p:sp>
        <p:nvSpPr>
          <p:cNvPr id="6" name="Shape 4"/>
          <p:cNvSpPr/>
          <p:nvPr/>
        </p:nvSpPr>
        <p:spPr>
          <a:xfrm>
            <a:off x="1098550" y="2918371"/>
            <a:ext cx="355600" cy="355600"/>
          </a:xfrm>
          <a:prstGeom prst="roundRect">
            <a:avLst>
              <a:gd name="adj" fmla="val 50000"/>
            </a:avLst>
          </a:prstGeom>
          <a:solidFill>
            <a:srgbClr val="5B6470"/>
          </a:solidFill>
          <a:ln/>
        </p:spPr>
        <p:txBody>
          <a:bodyPr/>
          <a:lstStyle/>
          <a:p>
            <a:endParaRPr lang="es-CO"/>
          </a:p>
        </p:txBody>
      </p:sp>
      <p:sp>
        <p:nvSpPr>
          <p:cNvPr id="7" name="Text 5"/>
          <p:cNvSpPr/>
          <p:nvPr/>
        </p:nvSpPr>
        <p:spPr>
          <a:xfrm>
            <a:off x="1073150" y="2918371"/>
            <a:ext cx="406400" cy="381000"/>
          </a:xfrm>
          <a:prstGeom prst="rect">
            <a:avLst/>
          </a:prstGeom>
          <a:noFill/>
          <a:ln/>
        </p:spPr>
        <p:txBody>
          <a:bodyPr wrap="square" lIns="0" tIns="0" rIns="0" bIns="0" rtlCol="0" anchor="t">
            <a:normAutofit/>
          </a:bodyPr>
          <a:lstStyle/>
          <a:p>
            <a:pPr marL="0" indent="0" algn="ctr">
              <a:lnSpc>
                <a:spcPts val="2800"/>
              </a:lnSpc>
              <a:buNone/>
            </a:pPr>
            <a:r>
              <a:rPr lang="en-US" sz="1400" b="1" dirty="0">
                <a:solidFill>
                  <a:srgbClr val="FFFFFF"/>
                </a:solidFill>
                <a:latin typeface="IBM Plex Sans" pitchFamily="34" charset="0"/>
                <a:ea typeface="IBM Plex Sans" pitchFamily="34" charset="-122"/>
                <a:cs typeface="IBM Plex Sans" pitchFamily="34" charset="-120"/>
              </a:rPr>
              <a:t>1</a:t>
            </a:r>
            <a:endParaRPr lang="en-US" sz="1400" dirty="0"/>
          </a:p>
        </p:txBody>
      </p:sp>
      <p:sp>
        <p:nvSpPr>
          <p:cNvPr id="8" name="Text 6"/>
          <p:cNvSpPr/>
          <p:nvPr/>
        </p:nvSpPr>
        <p:spPr>
          <a:xfrm>
            <a:off x="1555750" y="2959001"/>
            <a:ext cx="8943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1B1F"/>
                </a:solidFill>
                <a:latin typeface="IBM Plex Sans" pitchFamily="34" charset="0"/>
                <a:ea typeface="IBM Plex Sans" pitchFamily="34" charset="-122"/>
                <a:cs typeface="IBM Plex Sans" pitchFamily="34" charset="-120"/>
              </a:rPr>
              <a:t>Scoping</a:t>
            </a:r>
            <a:endParaRPr lang="en-US" sz="1800" dirty="0"/>
          </a:p>
        </p:txBody>
      </p:sp>
      <p:sp>
        <p:nvSpPr>
          <p:cNvPr id="9" name="Text 7"/>
          <p:cNvSpPr/>
          <p:nvPr/>
        </p:nvSpPr>
        <p:spPr>
          <a:xfrm>
            <a:off x="1098550" y="3400971"/>
            <a:ext cx="4460621" cy="2033671"/>
          </a:xfrm>
          <a:prstGeom prst="rect">
            <a:avLst/>
          </a:prstGeom>
          <a:noFill/>
          <a:ln/>
        </p:spPr>
        <p:txBody>
          <a:bodyPr wrap="square" lIns="0" tIns="0" rIns="0" bIns="0" rtlCol="0" anchor="t">
            <a:normAutofit/>
          </a:bodyPr>
          <a:lstStyle/>
          <a:p>
            <a:pPr marL="198120" indent="-168656" algn="l">
              <a:lnSpc>
                <a:spcPts val="2015"/>
              </a:lnSpc>
              <a:buSzPct val="100000"/>
              <a:buChar char="•"/>
            </a:pPr>
            <a:r>
              <a:rPr lang="en-US" sz="1300" dirty="0">
                <a:solidFill>
                  <a:srgbClr val="4A4F57"/>
                </a:solidFill>
                <a:latin typeface="IBM Plex Sans" pitchFamily="34" charset="0"/>
                <a:ea typeface="IBM Plex Sans" pitchFamily="34" charset="-122"/>
                <a:cs typeface="IBM Plex Sans" pitchFamily="34" charset="-120"/>
              </a:rPr>
              <a:t>Evaluate the organization &amp; deal size</a:t>
            </a:r>
            <a:endParaRPr lang="en-US" sz="1300" dirty="0"/>
          </a:p>
          <a:p>
            <a:pPr marL="198120" indent="-168656" algn="l">
              <a:lnSpc>
                <a:spcPts val="2015"/>
              </a:lnSpc>
              <a:buSzPct val="100000"/>
              <a:buChar char="•"/>
            </a:pPr>
            <a:r>
              <a:rPr lang="en-US" sz="1300" dirty="0">
                <a:solidFill>
                  <a:srgbClr val="4A4F57"/>
                </a:solidFill>
                <a:latin typeface="IBM Plex Sans" pitchFamily="34" charset="0"/>
                <a:ea typeface="IBM Plex Sans" pitchFamily="34" charset="-122"/>
                <a:cs typeface="IBM Plex Sans" pitchFamily="34" charset="-120"/>
              </a:rPr>
              <a:t>Assess product fit &amp; level of effort</a:t>
            </a:r>
            <a:endParaRPr lang="en-US" sz="1300" dirty="0"/>
          </a:p>
          <a:p>
            <a:pPr marL="198120" indent="-168656" algn="l">
              <a:lnSpc>
                <a:spcPts val="2015"/>
              </a:lnSpc>
              <a:buSzPct val="100000"/>
              <a:buChar char="•"/>
            </a:pPr>
            <a:r>
              <a:rPr lang="en-US" sz="1300" dirty="0">
                <a:solidFill>
                  <a:srgbClr val="4A4F57"/>
                </a:solidFill>
                <a:latin typeface="IBM Plex Sans" pitchFamily="34" charset="0"/>
                <a:ea typeface="IBM Plex Sans" pitchFamily="34" charset="-122"/>
                <a:cs typeface="IBM Plex Sans" pitchFamily="34" charset="-120"/>
              </a:rPr>
              <a:t>Check the deadline</a:t>
            </a:r>
            <a:endParaRPr lang="en-US" sz="1300" dirty="0"/>
          </a:p>
          <a:p>
            <a:pPr marL="198120" indent="-168656" algn="l">
              <a:lnSpc>
                <a:spcPts val="2015"/>
              </a:lnSpc>
              <a:buSzPct val="100000"/>
              <a:buChar char="•"/>
            </a:pPr>
            <a:r>
              <a:rPr lang="en-US" sz="1300" dirty="0">
                <a:solidFill>
                  <a:srgbClr val="4A4F57"/>
                </a:solidFill>
                <a:latin typeface="IBM Plex Sans" pitchFamily="34" charset="0"/>
                <a:ea typeface="IBM Plex Sans" pitchFamily="34" charset="-122"/>
                <a:cs typeface="IBM Plex Sans" pitchFamily="34" charset="-120"/>
              </a:rPr>
              <a:t>Decide: bid or no-bid</a:t>
            </a:r>
          </a:p>
          <a:p>
            <a:pPr marL="198120" indent="-168656" algn="l">
              <a:lnSpc>
                <a:spcPts val="2015"/>
              </a:lnSpc>
              <a:buSzPct val="100000"/>
              <a:buChar char="•"/>
            </a:pPr>
            <a:r>
              <a:rPr lang="en-US" sz="1300" dirty="0">
                <a:solidFill>
                  <a:srgbClr val="4A4F57"/>
                </a:solidFill>
                <a:latin typeface="IBM Plex Sans" pitchFamily="34" charset="0"/>
              </a:rPr>
              <a:t>Allocating the effort</a:t>
            </a:r>
            <a:endParaRPr lang="en-US" sz="1300" dirty="0"/>
          </a:p>
        </p:txBody>
      </p:sp>
      <p:pic>
        <p:nvPicPr>
          <p:cNvPr id="10" name="Image 0" descr="arrow-right"/>
          <p:cNvPicPr>
            <a:picLocks noChangeAspect="1"/>
          </p:cNvPicPr>
          <p:nvPr/>
        </p:nvPicPr>
        <p:blipFill>
          <a:blip r:embed="rId3"/>
          <a:srcRect/>
          <a:stretch/>
        </p:blipFill>
        <p:spPr>
          <a:xfrm>
            <a:off x="5918200" y="4148386"/>
            <a:ext cx="355600" cy="177800"/>
          </a:xfrm>
          <a:prstGeom prst="rect">
            <a:avLst/>
          </a:prstGeom>
        </p:spPr>
      </p:pic>
      <p:sp>
        <p:nvSpPr>
          <p:cNvPr id="11" name="Shape 8"/>
          <p:cNvSpPr/>
          <p:nvPr/>
        </p:nvSpPr>
        <p:spPr>
          <a:xfrm>
            <a:off x="6480175" y="2635796"/>
            <a:ext cx="4895850" cy="3203029"/>
          </a:xfrm>
          <a:prstGeom prst="roundRect">
            <a:avLst>
              <a:gd name="adj" fmla="val 3866"/>
            </a:avLst>
          </a:prstGeom>
          <a:solidFill>
            <a:srgbClr val="FFFFFF"/>
          </a:solidFill>
          <a:ln w="6350">
            <a:solidFill>
              <a:srgbClr val="E4E2DD"/>
            </a:solidFill>
            <a:prstDash val="solid"/>
          </a:ln>
        </p:spPr>
        <p:txBody>
          <a:bodyPr/>
          <a:lstStyle/>
          <a:p>
            <a:endParaRPr lang="es-CO"/>
          </a:p>
        </p:txBody>
      </p:sp>
      <p:sp>
        <p:nvSpPr>
          <p:cNvPr id="12" name="Shape 9"/>
          <p:cNvSpPr/>
          <p:nvPr/>
        </p:nvSpPr>
        <p:spPr>
          <a:xfrm>
            <a:off x="6762750" y="2918371"/>
            <a:ext cx="355600" cy="355600"/>
          </a:xfrm>
          <a:prstGeom prst="roundRect">
            <a:avLst>
              <a:gd name="adj" fmla="val 50000"/>
            </a:avLst>
          </a:prstGeom>
          <a:solidFill>
            <a:srgbClr val="3D5A80"/>
          </a:solidFill>
          <a:ln/>
        </p:spPr>
        <p:txBody>
          <a:bodyPr/>
          <a:lstStyle/>
          <a:p>
            <a:endParaRPr lang="es-CO"/>
          </a:p>
        </p:txBody>
      </p:sp>
      <p:sp>
        <p:nvSpPr>
          <p:cNvPr id="13" name="Text 10"/>
          <p:cNvSpPr/>
          <p:nvPr/>
        </p:nvSpPr>
        <p:spPr>
          <a:xfrm>
            <a:off x="6737350" y="2918371"/>
            <a:ext cx="406400" cy="381000"/>
          </a:xfrm>
          <a:prstGeom prst="rect">
            <a:avLst/>
          </a:prstGeom>
          <a:noFill/>
          <a:ln/>
        </p:spPr>
        <p:txBody>
          <a:bodyPr wrap="square" lIns="0" tIns="0" rIns="0" bIns="0" rtlCol="0" anchor="t">
            <a:normAutofit/>
          </a:bodyPr>
          <a:lstStyle/>
          <a:p>
            <a:pPr marL="0" indent="0" algn="ctr">
              <a:lnSpc>
                <a:spcPts val="2800"/>
              </a:lnSpc>
              <a:buNone/>
            </a:pPr>
            <a:r>
              <a:rPr lang="en-US" sz="1400" b="1" dirty="0">
                <a:solidFill>
                  <a:srgbClr val="FFFFFF"/>
                </a:solidFill>
                <a:latin typeface="IBM Plex Sans" pitchFamily="34" charset="0"/>
                <a:ea typeface="IBM Plex Sans" pitchFamily="34" charset="-122"/>
                <a:cs typeface="IBM Plex Sans" pitchFamily="34" charset="-120"/>
              </a:rPr>
              <a:t>2</a:t>
            </a:r>
            <a:endParaRPr lang="en-US" sz="1400" dirty="0"/>
          </a:p>
        </p:txBody>
      </p:sp>
      <p:sp>
        <p:nvSpPr>
          <p:cNvPr id="14" name="Text 11"/>
          <p:cNvSpPr/>
          <p:nvPr/>
        </p:nvSpPr>
        <p:spPr>
          <a:xfrm>
            <a:off x="7219950" y="2959001"/>
            <a:ext cx="1300113"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1B1F"/>
                </a:solidFill>
                <a:latin typeface="IBM Plex Sans" pitchFamily="34" charset="0"/>
                <a:ea typeface="IBM Plex Sans" pitchFamily="34" charset="-122"/>
                <a:cs typeface="IBM Plex Sans" pitchFamily="34" charset="-120"/>
              </a:rPr>
              <a:t>Responding</a:t>
            </a:r>
            <a:endParaRPr lang="en-US" sz="1800" dirty="0"/>
          </a:p>
        </p:txBody>
      </p:sp>
      <p:sp>
        <p:nvSpPr>
          <p:cNvPr id="15" name="Text 12"/>
          <p:cNvSpPr/>
          <p:nvPr/>
        </p:nvSpPr>
        <p:spPr>
          <a:xfrm>
            <a:off x="6762750" y="3400971"/>
            <a:ext cx="4460621" cy="1751874"/>
          </a:xfrm>
          <a:prstGeom prst="rect">
            <a:avLst/>
          </a:prstGeom>
          <a:noFill/>
          <a:ln/>
        </p:spPr>
        <p:txBody>
          <a:bodyPr wrap="square" lIns="0" tIns="0" rIns="0" bIns="0" rtlCol="0" anchor="t">
            <a:normAutofit/>
          </a:bodyPr>
          <a:lstStyle/>
          <a:p>
            <a:pPr marL="198120" indent="-168656" algn="l">
              <a:lnSpc>
                <a:spcPts val="2015"/>
              </a:lnSpc>
              <a:buSzPct val="100000"/>
              <a:buChar char="•"/>
            </a:pPr>
            <a:r>
              <a:rPr lang="en-US" sz="1300" dirty="0">
                <a:solidFill>
                  <a:srgbClr val="4A4F57"/>
                </a:solidFill>
                <a:latin typeface="IBM Plex Sans" pitchFamily="34" charset="0"/>
                <a:ea typeface="IBM Plex Sans" pitchFamily="34" charset="-122"/>
                <a:cs typeface="IBM Plex Sans" pitchFamily="34" charset="-120"/>
              </a:rPr>
              <a:t>Coordinate legal, product, ops, security</a:t>
            </a:r>
            <a:endParaRPr lang="en-US" sz="1300" dirty="0"/>
          </a:p>
          <a:p>
            <a:pPr marL="198120" indent="-168656" algn="l">
              <a:lnSpc>
                <a:spcPts val="2015"/>
              </a:lnSpc>
              <a:buSzPct val="100000"/>
              <a:buChar char="•"/>
            </a:pPr>
            <a:r>
              <a:rPr lang="en-US" sz="1300" dirty="0">
                <a:solidFill>
                  <a:srgbClr val="4A4F57"/>
                </a:solidFill>
                <a:latin typeface="IBM Plex Sans" pitchFamily="34" charset="0"/>
                <a:ea typeface="IBM Plex Sans" pitchFamily="34" charset="-122"/>
                <a:cs typeface="IBM Plex Sans" pitchFamily="34" charset="-120"/>
              </a:rPr>
              <a:t>SE validates &amp; sources proof</a:t>
            </a:r>
            <a:endParaRPr lang="en-US" sz="1300" dirty="0"/>
          </a:p>
          <a:p>
            <a:pPr marL="198120" indent="-168656" algn="l">
              <a:lnSpc>
                <a:spcPts val="2015"/>
              </a:lnSpc>
              <a:buSzPct val="100000"/>
              <a:buChar char="•"/>
            </a:pPr>
            <a:r>
              <a:rPr lang="en-US" sz="1300" dirty="0">
                <a:solidFill>
                  <a:srgbClr val="4A4F57"/>
                </a:solidFill>
                <a:latin typeface="IBM Plex Sans" pitchFamily="34" charset="0"/>
                <a:ea typeface="IBM Plex Sans" pitchFamily="34" charset="-122"/>
                <a:cs typeface="IBM Plex Sans" pitchFamily="34" charset="-120"/>
              </a:rPr>
              <a:t>Draft, review, sign-off</a:t>
            </a:r>
            <a:endParaRPr lang="en-US" sz="1300" dirty="0"/>
          </a:p>
          <a:p>
            <a:pPr marL="198120" indent="-168656" algn="l">
              <a:lnSpc>
                <a:spcPts val="2015"/>
              </a:lnSpc>
              <a:buSzPct val="100000"/>
              <a:buChar char="•"/>
            </a:pPr>
            <a:r>
              <a:rPr lang="en-US" sz="1300" dirty="0">
                <a:solidFill>
                  <a:srgbClr val="4A4F57"/>
                </a:solidFill>
                <a:latin typeface="IBM Plex Sans" pitchFamily="34" charset="0"/>
                <a:ea typeface="IBM Plex Sans" pitchFamily="34" charset="-122"/>
                <a:cs typeface="IBM Plex Sans" pitchFamily="34" charset="-120"/>
              </a:rPr>
              <a:t>Deliver in the original format and language</a:t>
            </a:r>
            <a:endParaRPr lang="en-US" sz="1300" dirty="0"/>
          </a:p>
        </p:txBody>
      </p:sp>
      <p:sp>
        <p:nvSpPr>
          <p:cNvPr id="16" name="Text 13"/>
          <p:cNvSpPr/>
          <p:nvPr/>
        </p:nvSpPr>
        <p:spPr>
          <a:xfrm>
            <a:off x="812800" y="6238280"/>
            <a:ext cx="461580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F98"/>
                </a:solidFill>
                <a:latin typeface="IBM Plex Sans" pitchFamily="34" charset="0"/>
                <a:ea typeface="IBM Plex Sans" pitchFamily="34" charset="-122"/>
                <a:cs typeface="IBM Plex Sans" pitchFamily="34" charset="-120"/>
              </a:rPr>
              <a:t>Sebastian Rojas Díaz — CoE RFP Manager, Candidate Presentation</a:t>
            </a:r>
            <a:endParaRPr lang="en-US" sz="1200" dirty="0"/>
          </a:p>
        </p:txBody>
      </p:sp>
      <p:sp>
        <p:nvSpPr>
          <p:cNvPr id="17" name="Text 14"/>
          <p:cNvSpPr/>
          <p:nvPr/>
        </p:nvSpPr>
        <p:spPr>
          <a:xfrm>
            <a:off x="9376817" y="6238280"/>
            <a:ext cx="2062455" cy="23872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8A8F98"/>
                </a:solidFill>
                <a:latin typeface="IBM Plex Sans" pitchFamily="34" charset="0"/>
                <a:ea typeface="IBM Plex Sans" pitchFamily="34" charset="-122"/>
                <a:cs typeface="IBM Plex Sans" pitchFamily="34" charset="-120"/>
              </a:rPr>
              <a:t>PART A — 30 / 90 / 180 PLAN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6"/>
        </a:solidFill>
        <a:effectLst/>
      </p:bgPr>
    </p:bg>
    <p:spTree>
      <p:nvGrpSpPr>
        <p:cNvPr id="1" name=""/>
        <p:cNvGrpSpPr/>
        <p:nvPr/>
      </p:nvGrpSpPr>
      <p:grpSpPr>
        <a:xfrm>
          <a:off x="0" y="0"/>
          <a:ext cx="0" cy="0"/>
          <a:chOff x="0" y="0"/>
          <a:chExt cx="0" cy="0"/>
        </a:xfrm>
      </p:grpSpPr>
      <p:sp>
        <p:nvSpPr>
          <p:cNvPr id="67" name="Shape 7">
            <a:extLst>
              <a:ext uri="{FF2B5EF4-FFF2-40B4-BE49-F238E27FC236}">
                <a16:creationId xmlns:a16="http://schemas.microsoft.com/office/drawing/2014/main" id="{6228FBF7-3B4D-E6DE-9A56-355ED05B093B}"/>
              </a:ext>
            </a:extLst>
          </p:cNvPr>
          <p:cNvSpPr/>
          <p:nvPr/>
        </p:nvSpPr>
        <p:spPr>
          <a:xfrm>
            <a:off x="6468666" y="1880791"/>
            <a:ext cx="4907359" cy="2500709"/>
          </a:xfrm>
          <a:prstGeom prst="roundRect">
            <a:avLst>
              <a:gd name="adj" fmla="val 4407"/>
            </a:avLst>
          </a:prstGeom>
          <a:solidFill>
            <a:srgbClr val="FFFFFF"/>
          </a:solidFill>
          <a:ln w="6350">
            <a:solidFill>
              <a:srgbClr val="E4E2DD"/>
            </a:solidFill>
            <a:prstDash val="solid"/>
          </a:ln>
        </p:spPr>
        <p:txBody>
          <a:bodyPr/>
          <a:lstStyle/>
          <a:p>
            <a:endParaRPr lang="es-CO"/>
          </a:p>
        </p:txBody>
      </p:sp>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D6293F"/>
                </a:solidFill>
                <a:latin typeface="IBM Plex Sans" pitchFamily="34" charset="0"/>
                <a:ea typeface="IBM Plex Sans" pitchFamily="34" charset="-122"/>
                <a:cs typeface="IBM Plex Sans" pitchFamily="34" charset="-120"/>
              </a:rPr>
              <a:t>PART A — THE PLAN</a:t>
            </a:r>
            <a:endParaRPr lang="en-US" sz="1200" dirty="0"/>
          </a:p>
        </p:txBody>
      </p:sp>
      <p:sp>
        <p:nvSpPr>
          <p:cNvPr id="3" name="Shape 1"/>
          <p:cNvSpPr/>
          <p:nvPr/>
        </p:nvSpPr>
        <p:spPr>
          <a:xfrm>
            <a:off x="812800" y="1281361"/>
            <a:ext cx="355600" cy="355600"/>
          </a:xfrm>
          <a:prstGeom prst="roundRect">
            <a:avLst>
              <a:gd name="adj" fmla="val 50000"/>
            </a:avLst>
          </a:prstGeom>
          <a:solidFill>
            <a:srgbClr val="5B6470"/>
          </a:solidFill>
          <a:ln/>
        </p:spPr>
        <p:txBody>
          <a:bodyPr/>
          <a:lstStyle/>
          <a:p>
            <a:endParaRPr lang="es-CO"/>
          </a:p>
        </p:txBody>
      </p:sp>
      <p:sp>
        <p:nvSpPr>
          <p:cNvPr id="4" name="Text 2"/>
          <p:cNvSpPr/>
          <p:nvPr/>
        </p:nvSpPr>
        <p:spPr>
          <a:xfrm>
            <a:off x="787400" y="1281361"/>
            <a:ext cx="406400" cy="381000"/>
          </a:xfrm>
          <a:prstGeom prst="rect">
            <a:avLst/>
          </a:prstGeom>
          <a:noFill/>
          <a:ln/>
        </p:spPr>
        <p:txBody>
          <a:bodyPr wrap="square" lIns="0" tIns="0" rIns="0" bIns="0" rtlCol="0" anchor="t">
            <a:normAutofit/>
          </a:bodyPr>
          <a:lstStyle/>
          <a:p>
            <a:pPr marL="0" indent="0" algn="ctr">
              <a:lnSpc>
                <a:spcPts val="2800"/>
              </a:lnSpc>
              <a:buNone/>
            </a:pPr>
            <a:r>
              <a:rPr lang="en-US" sz="1400" b="1" dirty="0">
                <a:solidFill>
                  <a:srgbClr val="FFFFFF"/>
                </a:solidFill>
                <a:latin typeface="IBM Plex Sans" pitchFamily="34" charset="0"/>
                <a:ea typeface="IBM Plex Sans" pitchFamily="34" charset="-122"/>
                <a:cs typeface="IBM Plex Sans" pitchFamily="34" charset="-120"/>
              </a:rPr>
              <a:t>1</a:t>
            </a:r>
            <a:endParaRPr lang="en-US" sz="1400" dirty="0"/>
          </a:p>
        </p:txBody>
      </p:sp>
      <p:sp>
        <p:nvSpPr>
          <p:cNvPr id="5" name="Text 3"/>
          <p:cNvSpPr/>
          <p:nvPr/>
        </p:nvSpPr>
        <p:spPr>
          <a:xfrm>
            <a:off x="1320800" y="1254720"/>
            <a:ext cx="10360152" cy="43433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B1B1F"/>
                </a:solidFill>
                <a:latin typeface="Space Grotesk" pitchFamily="34" charset="0"/>
                <a:ea typeface="Space Grotesk" pitchFamily="34" charset="-122"/>
                <a:cs typeface="Space Grotesk" pitchFamily="34" charset="-120"/>
              </a:rPr>
              <a:t>Scoping decides where effort goes</a:t>
            </a:r>
            <a:endParaRPr lang="en-US" sz="2800" dirty="0"/>
          </a:p>
        </p:txBody>
      </p:sp>
      <p:grpSp>
        <p:nvGrpSpPr>
          <p:cNvPr id="95" name="Group 94">
            <a:extLst>
              <a:ext uri="{FF2B5EF4-FFF2-40B4-BE49-F238E27FC236}">
                <a16:creationId xmlns:a16="http://schemas.microsoft.com/office/drawing/2014/main" id="{958CDEE5-210B-0102-9CF3-B27BC9DD57E1}"/>
              </a:ext>
            </a:extLst>
          </p:cNvPr>
          <p:cNvGrpSpPr/>
          <p:nvPr/>
        </p:nvGrpSpPr>
        <p:grpSpPr>
          <a:xfrm>
            <a:off x="6726881" y="3651250"/>
            <a:ext cx="2729855" cy="365720"/>
            <a:chOff x="8375650" y="345480"/>
            <a:chExt cx="2729855" cy="365720"/>
          </a:xfrm>
        </p:grpSpPr>
        <p:pic>
          <p:nvPicPr>
            <p:cNvPr id="20" name="Image 0" descr="arrow-right"/>
            <p:cNvPicPr>
              <a:picLocks noChangeAspect="1"/>
            </p:cNvPicPr>
            <p:nvPr/>
          </p:nvPicPr>
          <p:blipFill>
            <a:blip r:embed="rId3"/>
            <a:srcRect/>
            <a:stretch/>
          </p:blipFill>
          <p:spPr>
            <a:xfrm>
              <a:off x="8375650" y="464841"/>
              <a:ext cx="254000" cy="127000"/>
            </a:xfrm>
            <a:prstGeom prst="rect">
              <a:avLst/>
            </a:prstGeom>
          </p:spPr>
        </p:pic>
        <p:grpSp>
          <p:nvGrpSpPr>
            <p:cNvPr id="94" name="Group 93">
              <a:extLst>
                <a:ext uri="{FF2B5EF4-FFF2-40B4-BE49-F238E27FC236}">
                  <a16:creationId xmlns:a16="http://schemas.microsoft.com/office/drawing/2014/main" id="{C727BEB1-0B60-415D-F8D8-E1BA79455693}"/>
                </a:ext>
              </a:extLst>
            </p:cNvPr>
            <p:cNvGrpSpPr/>
            <p:nvPr/>
          </p:nvGrpSpPr>
          <p:grpSpPr>
            <a:xfrm>
              <a:off x="8731250" y="345480"/>
              <a:ext cx="2374255" cy="365720"/>
              <a:chOff x="8731250" y="345480"/>
              <a:chExt cx="2374255" cy="365720"/>
            </a:xfrm>
          </p:grpSpPr>
          <p:sp>
            <p:nvSpPr>
              <p:cNvPr id="21" name="Shape 17"/>
              <p:cNvSpPr/>
              <p:nvPr/>
            </p:nvSpPr>
            <p:spPr>
              <a:xfrm>
                <a:off x="8731250" y="345480"/>
                <a:ext cx="2374255" cy="365720"/>
              </a:xfrm>
              <a:prstGeom prst="roundRect">
                <a:avLst>
                  <a:gd name="adj" fmla="val 50000"/>
                </a:avLst>
              </a:prstGeom>
              <a:solidFill>
                <a:schemeClr val="bg1">
                  <a:lumMod val="50000"/>
                </a:schemeClr>
              </a:solidFill>
              <a:ln/>
            </p:spPr>
            <p:txBody>
              <a:bodyPr/>
              <a:lstStyle/>
              <a:p>
                <a:endParaRPr lang="es-CO"/>
              </a:p>
            </p:txBody>
          </p:sp>
          <p:sp>
            <p:nvSpPr>
              <p:cNvPr id="22" name="Text 18"/>
              <p:cNvSpPr/>
              <p:nvPr/>
            </p:nvSpPr>
            <p:spPr>
              <a:xfrm>
                <a:off x="8870950" y="421680"/>
                <a:ext cx="215770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FFFF"/>
                    </a:solidFill>
                    <a:latin typeface="IBM Plex Sans" pitchFamily="34" charset="0"/>
                    <a:ea typeface="IBM Plex Sans" pitchFamily="34" charset="-122"/>
                    <a:cs typeface="IBM Plex Sans" pitchFamily="34" charset="-120"/>
                  </a:rPr>
                  <a:t>Bid / No-bid recommendation</a:t>
                </a:r>
                <a:endParaRPr lang="en-US" sz="1200" dirty="0"/>
              </a:p>
            </p:txBody>
          </p:sp>
        </p:grpSp>
      </p:grpSp>
      <p:sp>
        <p:nvSpPr>
          <p:cNvPr id="23" name="Text 19"/>
          <p:cNvSpPr/>
          <p:nvPr/>
        </p:nvSpPr>
        <p:spPr>
          <a:xfrm>
            <a:off x="812800" y="6238280"/>
            <a:ext cx="461580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F98"/>
                </a:solidFill>
                <a:latin typeface="IBM Plex Sans" pitchFamily="34" charset="0"/>
                <a:ea typeface="IBM Plex Sans" pitchFamily="34" charset="-122"/>
                <a:cs typeface="IBM Plex Sans" pitchFamily="34" charset="-120"/>
              </a:rPr>
              <a:t>Sebastian Rojas Díaz — CoE RFP Manager, Candidate Presentation</a:t>
            </a:r>
            <a:endParaRPr lang="en-US" sz="1200" dirty="0"/>
          </a:p>
        </p:txBody>
      </p:sp>
      <p:sp>
        <p:nvSpPr>
          <p:cNvPr id="24" name="Text 20"/>
          <p:cNvSpPr/>
          <p:nvPr/>
        </p:nvSpPr>
        <p:spPr>
          <a:xfrm>
            <a:off x="9376817" y="6238280"/>
            <a:ext cx="2062455" cy="23872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8A8F98"/>
                </a:solidFill>
                <a:latin typeface="IBM Plex Sans" pitchFamily="34" charset="0"/>
                <a:ea typeface="IBM Plex Sans" pitchFamily="34" charset="-122"/>
                <a:cs typeface="IBM Plex Sans" pitchFamily="34" charset="-120"/>
              </a:rPr>
              <a:t>PART A — 30 / 90 / 180 PLAN</a:t>
            </a:r>
            <a:endParaRPr lang="en-US" sz="1200" dirty="0"/>
          </a:p>
        </p:txBody>
      </p:sp>
      <p:sp>
        <p:nvSpPr>
          <p:cNvPr id="61" name="Shape 4">
            <a:extLst>
              <a:ext uri="{FF2B5EF4-FFF2-40B4-BE49-F238E27FC236}">
                <a16:creationId xmlns:a16="http://schemas.microsoft.com/office/drawing/2014/main" id="{4E3ECA25-336A-8C3D-5252-F4DA8E2C057C}"/>
              </a:ext>
            </a:extLst>
          </p:cNvPr>
          <p:cNvSpPr/>
          <p:nvPr/>
        </p:nvSpPr>
        <p:spPr>
          <a:xfrm>
            <a:off x="815975" y="1880791"/>
            <a:ext cx="5341541" cy="2500709"/>
          </a:xfrm>
          <a:prstGeom prst="roundRect">
            <a:avLst>
              <a:gd name="adj" fmla="val 4407"/>
            </a:avLst>
          </a:prstGeom>
          <a:solidFill>
            <a:srgbClr val="FFFFFF"/>
          </a:solidFill>
          <a:ln w="6350">
            <a:solidFill>
              <a:srgbClr val="E4E2DD"/>
            </a:solidFill>
            <a:prstDash val="solid"/>
          </a:ln>
        </p:spPr>
        <p:txBody>
          <a:bodyPr/>
          <a:lstStyle/>
          <a:p>
            <a:endParaRPr lang="es-CO"/>
          </a:p>
        </p:txBody>
      </p:sp>
      <p:sp>
        <p:nvSpPr>
          <p:cNvPr id="63" name="Text 5">
            <a:extLst>
              <a:ext uri="{FF2B5EF4-FFF2-40B4-BE49-F238E27FC236}">
                <a16:creationId xmlns:a16="http://schemas.microsoft.com/office/drawing/2014/main" id="{D18AEC32-28C3-36A0-3DEC-60C4785B9338}"/>
              </a:ext>
            </a:extLst>
          </p:cNvPr>
          <p:cNvSpPr/>
          <p:nvPr/>
        </p:nvSpPr>
        <p:spPr>
          <a:xfrm>
            <a:off x="1098550" y="2163366"/>
            <a:ext cx="4919682"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B1F"/>
                </a:solidFill>
                <a:latin typeface="IBM Plex Sans" pitchFamily="34" charset="0"/>
                <a:ea typeface="IBM Plex Sans" pitchFamily="34" charset="-122"/>
                <a:cs typeface="IBM Plex Sans" pitchFamily="34" charset="-120"/>
              </a:rPr>
              <a:t>Where effort goes</a:t>
            </a:r>
            <a:endParaRPr lang="en-US" sz="1600" dirty="0"/>
          </a:p>
        </p:txBody>
      </p:sp>
      <p:sp>
        <p:nvSpPr>
          <p:cNvPr id="65" name="Text 6">
            <a:extLst>
              <a:ext uri="{FF2B5EF4-FFF2-40B4-BE49-F238E27FC236}">
                <a16:creationId xmlns:a16="http://schemas.microsoft.com/office/drawing/2014/main" id="{28258C72-4502-DDE5-D48C-85ECCC123681}"/>
              </a:ext>
            </a:extLst>
          </p:cNvPr>
          <p:cNvSpPr/>
          <p:nvPr/>
        </p:nvSpPr>
        <p:spPr>
          <a:xfrm>
            <a:off x="1098550" y="2534196"/>
            <a:ext cx="4919682" cy="796925"/>
          </a:xfrm>
          <a:prstGeom prst="rect">
            <a:avLst/>
          </a:prstGeom>
          <a:noFill/>
          <a:ln/>
        </p:spPr>
        <p:txBody>
          <a:bodyPr wrap="square" lIns="0" tIns="0" rIns="0" bIns="0" rtlCol="0" anchor="t">
            <a:normAutofit/>
          </a:bodyPr>
          <a:lstStyle/>
          <a:p>
            <a:pPr marL="205740" indent="-169037" algn="l">
              <a:lnSpc>
                <a:spcPts val="2025"/>
              </a:lnSpc>
              <a:buSzPct val="100000"/>
              <a:buChar char="•"/>
            </a:pPr>
            <a:r>
              <a:rPr lang="en-US" sz="1350" dirty="0">
                <a:solidFill>
                  <a:srgbClr val="4A4F57"/>
                </a:solidFill>
                <a:latin typeface="IBM Plex Sans" pitchFamily="34" charset="0"/>
                <a:ea typeface="IBM Plex Sans" pitchFamily="34" charset="-122"/>
                <a:cs typeface="IBM Plex Sans" pitchFamily="34" charset="-120"/>
              </a:rPr>
              <a:t>Owns end-to-end — large, regulated deals, high effort</a:t>
            </a:r>
            <a:endParaRPr lang="en-US" sz="1350" dirty="0"/>
          </a:p>
          <a:p>
            <a:pPr marL="205740" indent="-169037" algn="l">
              <a:lnSpc>
                <a:spcPts val="2025"/>
              </a:lnSpc>
              <a:buSzPct val="100000"/>
              <a:buChar char="•"/>
            </a:pPr>
            <a:r>
              <a:rPr lang="en-US" sz="1350" dirty="0">
                <a:solidFill>
                  <a:srgbClr val="4A4F57"/>
                </a:solidFill>
                <a:latin typeface="IBM Plex Sans" pitchFamily="34" charset="0"/>
                <a:ea typeface="IBM Plex Sans" pitchFamily="34" charset="-122"/>
                <a:cs typeface="IBM Plex Sans" pitchFamily="34" charset="-120"/>
              </a:rPr>
              <a:t>Supports — familiar RFP type, SE leads, CoE fills gaps</a:t>
            </a:r>
            <a:endParaRPr lang="en-US" sz="1350" dirty="0"/>
          </a:p>
          <a:p>
            <a:pPr marL="205740" indent="-169037" algn="l">
              <a:lnSpc>
                <a:spcPts val="2025"/>
              </a:lnSpc>
              <a:buSzPct val="100000"/>
              <a:buChar char="•"/>
            </a:pPr>
            <a:r>
              <a:rPr lang="en-US" sz="1350" dirty="0">
                <a:solidFill>
                  <a:srgbClr val="4A4F57"/>
                </a:solidFill>
                <a:latin typeface="IBM Plex Sans" pitchFamily="34" charset="0"/>
                <a:ea typeface="IBM Plex Sans" pitchFamily="34" charset="-122"/>
                <a:cs typeface="IBM Plex Sans" pitchFamily="34" charset="-120"/>
              </a:rPr>
              <a:t>Field self-service — small RFIs, well-covered by the KB</a:t>
            </a:r>
            <a:endParaRPr lang="en-US" sz="1350" dirty="0"/>
          </a:p>
        </p:txBody>
      </p:sp>
      <p:sp>
        <p:nvSpPr>
          <p:cNvPr id="69" name="Text 8">
            <a:extLst>
              <a:ext uri="{FF2B5EF4-FFF2-40B4-BE49-F238E27FC236}">
                <a16:creationId xmlns:a16="http://schemas.microsoft.com/office/drawing/2014/main" id="{5070E807-5F7F-0F7A-1452-8EB72323A1DD}"/>
              </a:ext>
            </a:extLst>
          </p:cNvPr>
          <p:cNvSpPr/>
          <p:nvPr/>
        </p:nvSpPr>
        <p:spPr>
          <a:xfrm>
            <a:off x="6751241" y="2163366"/>
            <a:ext cx="447247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B1F"/>
                </a:solidFill>
                <a:latin typeface="IBM Plex Sans" pitchFamily="34" charset="0"/>
                <a:ea typeface="IBM Plex Sans" pitchFamily="34" charset="-122"/>
                <a:cs typeface="IBM Plex Sans" pitchFamily="34" charset="-120"/>
              </a:rPr>
              <a:t>Decide fast</a:t>
            </a:r>
            <a:endParaRPr lang="en-US" sz="1600" dirty="0"/>
          </a:p>
        </p:txBody>
      </p:sp>
      <p:sp>
        <p:nvSpPr>
          <p:cNvPr id="71" name="Shape 9">
            <a:extLst>
              <a:ext uri="{FF2B5EF4-FFF2-40B4-BE49-F238E27FC236}">
                <a16:creationId xmlns:a16="http://schemas.microsoft.com/office/drawing/2014/main" id="{B3941C4A-AB44-A220-7773-5F110AC35E30}"/>
              </a:ext>
            </a:extLst>
          </p:cNvPr>
          <p:cNvSpPr/>
          <p:nvPr/>
        </p:nvSpPr>
        <p:spPr>
          <a:xfrm>
            <a:off x="6751241" y="2534196"/>
            <a:ext cx="756196" cy="408930"/>
          </a:xfrm>
          <a:prstGeom prst="roundRect">
            <a:avLst>
              <a:gd name="adj" fmla="val 50000"/>
            </a:avLst>
          </a:prstGeom>
          <a:solidFill>
            <a:srgbClr val="F1EFEA"/>
          </a:solidFill>
          <a:ln/>
        </p:spPr>
        <p:txBody>
          <a:bodyPr/>
          <a:lstStyle/>
          <a:p>
            <a:endParaRPr lang="es-CO"/>
          </a:p>
        </p:txBody>
      </p:sp>
      <p:sp>
        <p:nvSpPr>
          <p:cNvPr id="73" name="Text 10">
            <a:extLst>
              <a:ext uri="{FF2B5EF4-FFF2-40B4-BE49-F238E27FC236}">
                <a16:creationId xmlns:a16="http://schemas.microsoft.com/office/drawing/2014/main" id="{85F532B4-89D6-A654-FF92-9215F95E7CCB}"/>
              </a:ext>
            </a:extLst>
          </p:cNvPr>
          <p:cNvSpPr/>
          <p:nvPr/>
        </p:nvSpPr>
        <p:spPr>
          <a:xfrm>
            <a:off x="6903641" y="2623096"/>
            <a:ext cx="502196"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1B1F"/>
                </a:solidFill>
                <a:latin typeface="IBM Plex Sans" pitchFamily="34" charset="0"/>
                <a:ea typeface="IBM Plex Sans" pitchFamily="34" charset="-122"/>
                <a:cs typeface="IBM Plex Sans" pitchFamily="34" charset="-120"/>
              </a:rPr>
              <a:t>Org fit</a:t>
            </a:r>
            <a:endParaRPr lang="en-US" sz="1300" dirty="0"/>
          </a:p>
        </p:txBody>
      </p:sp>
      <p:sp>
        <p:nvSpPr>
          <p:cNvPr id="75" name="Shape 11">
            <a:extLst>
              <a:ext uri="{FF2B5EF4-FFF2-40B4-BE49-F238E27FC236}">
                <a16:creationId xmlns:a16="http://schemas.microsoft.com/office/drawing/2014/main" id="{A7146B93-CD61-4411-209B-C5066D6E6DEA}"/>
              </a:ext>
            </a:extLst>
          </p:cNvPr>
          <p:cNvSpPr/>
          <p:nvPr/>
        </p:nvSpPr>
        <p:spPr>
          <a:xfrm>
            <a:off x="7609036" y="2534196"/>
            <a:ext cx="965547" cy="408930"/>
          </a:xfrm>
          <a:prstGeom prst="roundRect">
            <a:avLst>
              <a:gd name="adj" fmla="val 50000"/>
            </a:avLst>
          </a:prstGeom>
          <a:solidFill>
            <a:srgbClr val="F1EFEA"/>
          </a:solidFill>
          <a:ln/>
        </p:spPr>
        <p:txBody>
          <a:bodyPr/>
          <a:lstStyle/>
          <a:p>
            <a:endParaRPr lang="es-CO"/>
          </a:p>
        </p:txBody>
      </p:sp>
      <p:sp>
        <p:nvSpPr>
          <p:cNvPr id="77" name="Text 12">
            <a:extLst>
              <a:ext uri="{FF2B5EF4-FFF2-40B4-BE49-F238E27FC236}">
                <a16:creationId xmlns:a16="http://schemas.microsoft.com/office/drawing/2014/main" id="{A83FFEF1-5449-1651-451E-380DA7C3688C}"/>
              </a:ext>
            </a:extLst>
          </p:cNvPr>
          <p:cNvSpPr/>
          <p:nvPr/>
        </p:nvSpPr>
        <p:spPr>
          <a:xfrm>
            <a:off x="7761436" y="2623096"/>
            <a:ext cx="711547"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1B1F"/>
                </a:solidFill>
                <a:latin typeface="IBM Plex Sans" pitchFamily="34" charset="0"/>
                <a:ea typeface="IBM Plex Sans" pitchFamily="34" charset="-122"/>
                <a:cs typeface="IBM Plex Sans" pitchFamily="34" charset="-120"/>
              </a:rPr>
              <a:t>Deal size</a:t>
            </a:r>
            <a:endParaRPr lang="en-US" sz="1300" dirty="0"/>
          </a:p>
        </p:txBody>
      </p:sp>
      <p:sp>
        <p:nvSpPr>
          <p:cNvPr id="79" name="Shape 13">
            <a:extLst>
              <a:ext uri="{FF2B5EF4-FFF2-40B4-BE49-F238E27FC236}">
                <a16:creationId xmlns:a16="http://schemas.microsoft.com/office/drawing/2014/main" id="{A4680BEB-57AD-53FF-7A3F-F9E5EBF2CE95}"/>
              </a:ext>
            </a:extLst>
          </p:cNvPr>
          <p:cNvSpPr/>
          <p:nvPr/>
        </p:nvSpPr>
        <p:spPr>
          <a:xfrm>
            <a:off x="8676184" y="2534196"/>
            <a:ext cx="960785" cy="408930"/>
          </a:xfrm>
          <a:prstGeom prst="roundRect">
            <a:avLst>
              <a:gd name="adj" fmla="val 50000"/>
            </a:avLst>
          </a:prstGeom>
          <a:solidFill>
            <a:srgbClr val="F1EFEA"/>
          </a:solidFill>
          <a:ln/>
        </p:spPr>
        <p:txBody>
          <a:bodyPr/>
          <a:lstStyle/>
          <a:p>
            <a:endParaRPr lang="es-CO"/>
          </a:p>
        </p:txBody>
      </p:sp>
      <p:sp>
        <p:nvSpPr>
          <p:cNvPr id="81" name="Text 14">
            <a:extLst>
              <a:ext uri="{FF2B5EF4-FFF2-40B4-BE49-F238E27FC236}">
                <a16:creationId xmlns:a16="http://schemas.microsoft.com/office/drawing/2014/main" id="{C6632007-B8C8-BF44-6107-2A3EBC82AA20}"/>
              </a:ext>
            </a:extLst>
          </p:cNvPr>
          <p:cNvSpPr/>
          <p:nvPr/>
        </p:nvSpPr>
        <p:spPr>
          <a:xfrm>
            <a:off x="8828584" y="2623096"/>
            <a:ext cx="706785"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1B1F"/>
                </a:solidFill>
                <a:latin typeface="IBM Plex Sans" pitchFamily="34" charset="0"/>
                <a:ea typeface="IBM Plex Sans" pitchFamily="34" charset="-122"/>
                <a:cs typeface="IBM Plex Sans" pitchFamily="34" charset="-120"/>
              </a:rPr>
              <a:t>Deadline</a:t>
            </a:r>
            <a:endParaRPr lang="en-US" sz="1300" dirty="0"/>
          </a:p>
        </p:txBody>
      </p:sp>
      <p:sp>
        <p:nvSpPr>
          <p:cNvPr id="83" name="Shape 15">
            <a:extLst>
              <a:ext uri="{FF2B5EF4-FFF2-40B4-BE49-F238E27FC236}">
                <a16:creationId xmlns:a16="http://schemas.microsoft.com/office/drawing/2014/main" id="{636AEB8F-F39F-04CC-E02E-6C832F719F5F}"/>
              </a:ext>
            </a:extLst>
          </p:cNvPr>
          <p:cNvSpPr/>
          <p:nvPr/>
        </p:nvSpPr>
        <p:spPr>
          <a:xfrm>
            <a:off x="9738568" y="2534196"/>
            <a:ext cx="1322189" cy="408930"/>
          </a:xfrm>
          <a:prstGeom prst="roundRect">
            <a:avLst>
              <a:gd name="adj" fmla="val 50000"/>
            </a:avLst>
          </a:prstGeom>
          <a:solidFill>
            <a:srgbClr val="F1EFEA"/>
          </a:solidFill>
          <a:ln/>
        </p:spPr>
        <p:txBody>
          <a:bodyPr/>
          <a:lstStyle/>
          <a:p>
            <a:endParaRPr lang="es-CO"/>
          </a:p>
        </p:txBody>
      </p:sp>
      <p:sp>
        <p:nvSpPr>
          <p:cNvPr id="85" name="Text 16">
            <a:extLst>
              <a:ext uri="{FF2B5EF4-FFF2-40B4-BE49-F238E27FC236}">
                <a16:creationId xmlns:a16="http://schemas.microsoft.com/office/drawing/2014/main" id="{78538D02-822C-7662-8930-CA16DD5A2ED2}"/>
              </a:ext>
            </a:extLst>
          </p:cNvPr>
          <p:cNvSpPr/>
          <p:nvPr/>
        </p:nvSpPr>
        <p:spPr>
          <a:xfrm>
            <a:off x="9890968" y="2623096"/>
            <a:ext cx="1068189"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1B1F"/>
                </a:solidFill>
                <a:latin typeface="IBM Plex Sans" pitchFamily="34" charset="0"/>
                <a:ea typeface="IBM Plex Sans" pitchFamily="34" charset="-122"/>
                <a:cs typeface="IBM Plex Sans" pitchFamily="34" charset="-120"/>
              </a:rPr>
              <a:t>Level of effort</a:t>
            </a:r>
            <a:endParaRPr lang="en-US" sz="1300" dirty="0"/>
          </a:p>
        </p:txBody>
      </p:sp>
      <p:sp>
        <p:nvSpPr>
          <p:cNvPr id="87" name="Text 17">
            <a:extLst>
              <a:ext uri="{FF2B5EF4-FFF2-40B4-BE49-F238E27FC236}">
                <a16:creationId xmlns:a16="http://schemas.microsoft.com/office/drawing/2014/main" id="{17131DA1-E069-8B77-E20F-87723D63F51A}"/>
              </a:ext>
            </a:extLst>
          </p:cNvPr>
          <p:cNvSpPr/>
          <p:nvPr/>
        </p:nvSpPr>
        <p:spPr>
          <a:xfrm>
            <a:off x="6751241" y="3070126"/>
            <a:ext cx="4472476"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4A4F57"/>
                </a:solidFill>
                <a:latin typeface="IBM Plex Sans" pitchFamily="34" charset="0"/>
                <a:ea typeface="IBM Plex Sans" pitchFamily="34" charset="-122"/>
                <a:cs typeface="IBM Plex Sans" pitchFamily="34" charset="-120"/>
              </a:rPr>
              <a:t>Bid or no-bid, decided in days — not weeks.</a:t>
            </a:r>
            <a:endParaRPr lang="en-US" sz="1300" dirty="0"/>
          </a:p>
        </p:txBody>
      </p:sp>
      <p:sp>
        <p:nvSpPr>
          <p:cNvPr id="89" name="Shape 18">
            <a:extLst>
              <a:ext uri="{FF2B5EF4-FFF2-40B4-BE49-F238E27FC236}">
                <a16:creationId xmlns:a16="http://schemas.microsoft.com/office/drawing/2014/main" id="{7AF77523-49C1-4528-6B1A-1E8666E020CE}"/>
              </a:ext>
            </a:extLst>
          </p:cNvPr>
          <p:cNvSpPr/>
          <p:nvPr/>
        </p:nvSpPr>
        <p:spPr>
          <a:xfrm>
            <a:off x="812800" y="4725096"/>
            <a:ext cx="10566400" cy="1116904"/>
          </a:xfrm>
          <a:prstGeom prst="roundRect">
            <a:avLst>
              <a:gd name="adj" fmla="val 13812"/>
            </a:avLst>
          </a:prstGeom>
          <a:solidFill>
            <a:srgbClr val="1B1B1F"/>
          </a:solidFill>
          <a:ln/>
        </p:spPr>
        <p:txBody>
          <a:bodyPr/>
          <a:lstStyle/>
          <a:p>
            <a:endParaRPr lang="es-CO"/>
          </a:p>
        </p:txBody>
      </p:sp>
      <p:sp>
        <p:nvSpPr>
          <p:cNvPr id="91" name="Text 19">
            <a:extLst>
              <a:ext uri="{FF2B5EF4-FFF2-40B4-BE49-F238E27FC236}">
                <a16:creationId xmlns:a16="http://schemas.microsoft.com/office/drawing/2014/main" id="{8FE511CC-8EF2-F7BF-5557-268915D209C7}"/>
              </a:ext>
            </a:extLst>
          </p:cNvPr>
          <p:cNvSpPr/>
          <p:nvPr/>
        </p:nvSpPr>
        <p:spPr>
          <a:xfrm>
            <a:off x="1092200" y="4909457"/>
            <a:ext cx="1699986" cy="729343"/>
          </a:xfrm>
          <a:prstGeom prst="rect">
            <a:avLst/>
          </a:prstGeom>
          <a:noFill/>
          <a:ln/>
        </p:spPr>
        <p:txBody>
          <a:bodyPr wrap="none" lIns="0" tIns="0" rIns="0" bIns="0" rtlCol="0" anchor="ctr">
            <a:normAutofit/>
          </a:bodyPr>
          <a:lstStyle/>
          <a:p>
            <a:pPr marL="0" indent="0" algn="l">
              <a:lnSpc>
                <a:spcPts val="1680"/>
              </a:lnSpc>
              <a:buNone/>
            </a:pPr>
            <a:r>
              <a:rPr lang="en-US" sz="1200" b="1" kern="0" spc="100" dirty="0">
                <a:solidFill>
                  <a:srgbClr val="FF6B81"/>
                </a:solidFill>
                <a:latin typeface="IBM Plex Sans" pitchFamily="34" charset="0"/>
                <a:ea typeface="IBM Plex Sans" pitchFamily="34" charset="-122"/>
                <a:cs typeface="IBM Plex Sans" pitchFamily="34" charset="-120"/>
              </a:rPr>
              <a:t>MOBILIZE IMMEDIATELY</a:t>
            </a:r>
            <a:endParaRPr lang="en-US" sz="1200" dirty="0"/>
          </a:p>
        </p:txBody>
      </p:sp>
      <p:sp>
        <p:nvSpPr>
          <p:cNvPr id="93" name="Text 20">
            <a:extLst>
              <a:ext uri="{FF2B5EF4-FFF2-40B4-BE49-F238E27FC236}">
                <a16:creationId xmlns:a16="http://schemas.microsoft.com/office/drawing/2014/main" id="{75412500-DFB0-E305-C192-1712DC8D9CC1}"/>
              </a:ext>
            </a:extLst>
          </p:cNvPr>
          <p:cNvSpPr/>
          <p:nvPr/>
        </p:nvSpPr>
        <p:spPr>
          <a:xfrm>
            <a:off x="3456214" y="4909457"/>
            <a:ext cx="7451272" cy="729343"/>
          </a:xfrm>
          <a:prstGeom prst="rect">
            <a:avLst/>
          </a:prstGeom>
          <a:noFill/>
          <a:ln/>
        </p:spPr>
        <p:txBody>
          <a:bodyPr wrap="square" lIns="0" tIns="0" rIns="0" bIns="0" rtlCol="0" anchor="ctr">
            <a:normAutofit/>
          </a:bodyPr>
          <a:lstStyle/>
          <a:p>
            <a:pPr marL="0" indent="0" algn="l">
              <a:lnSpc>
                <a:spcPts val="1820"/>
              </a:lnSpc>
              <a:buNone/>
            </a:pPr>
            <a:r>
              <a:rPr lang="en-US" sz="1600" dirty="0">
                <a:solidFill>
                  <a:srgbClr val="F1EFEA"/>
                </a:solidFill>
                <a:latin typeface="IBM Plex Sans" pitchFamily="34" charset="0"/>
                <a:ea typeface="IBM Plex Sans" pitchFamily="34" charset="-122"/>
                <a:cs typeface="IBM Plex Sans" pitchFamily="34" charset="-120"/>
              </a:rPr>
              <a:t>The moment it's a bid, work allocation starts — other teams begin even if the SE is busy elsewhere. The response doesn't wait on one person's calendar.</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D6293F"/>
                </a:solidFill>
                <a:latin typeface="IBM Plex Sans" pitchFamily="34" charset="0"/>
                <a:ea typeface="IBM Plex Sans" pitchFamily="34" charset="-122"/>
                <a:cs typeface="IBM Plex Sans" pitchFamily="34" charset="-120"/>
              </a:rPr>
              <a:t>PART A — THE PLAN</a:t>
            </a:r>
            <a:endParaRPr lang="en-US" sz="1200" dirty="0"/>
          </a:p>
        </p:txBody>
      </p:sp>
      <p:sp>
        <p:nvSpPr>
          <p:cNvPr id="3" name="Shape 1"/>
          <p:cNvSpPr/>
          <p:nvPr/>
        </p:nvSpPr>
        <p:spPr>
          <a:xfrm>
            <a:off x="812800" y="1266775"/>
            <a:ext cx="355600" cy="355600"/>
          </a:xfrm>
          <a:prstGeom prst="roundRect">
            <a:avLst>
              <a:gd name="adj" fmla="val 50000"/>
            </a:avLst>
          </a:prstGeom>
          <a:solidFill>
            <a:srgbClr val="3D5A80"/>
          </a:solidFill>
          <a:ln/>
        </p:spPr>
        <p:txBody>
          <a:bodyPr/>
          <a:lstStyle/>
          <a:p>
            <a:endParaRPr lang="es-CO"/>
          </a:p>
        </p:txBody>
      </p:sp>
      <p:sp>
        <p:nvSpPr>
          <p:cNvPr id="4" name="Text 2"/>
          <p:cNvSpPr/>
          <p:nvPr/>
        </p:nvSpPr>
        <p:spPr>
          <a:xfrm>
            <a:off x="787400" y="1266775"/>
            <a:ext cx="406400" cy="381000"/>
          </a:xfrm>
          <a:prstGeom prst="rect">
            <a:avLst/>
          </a:prstGeom>
          <a:noFill/>
          <a:ln/>
        </p:spPr>
        <p:txBody>
          <a:bodyPr wrap="square" lIns="0" tIns="0" rIns="0" bIns="0" rtlCol="0" anchor="t">
            <a:normAutofit/>
          </a:bodyPr>
          <a:lstStyle/>
          <a:p>
            <a:pPr marL="0" indent="0" algn="ctr">
              <a:lnSpc>
                <a:spcPts val="2800"/>
              </a:lnSpc>
              <a:buNone/>
            </a:pPr>
            <a:r>
              <a:rPr lang="en-US" sz="1400" b="1" dirty="0">
                <a:solidFill>
                  <a:srgbClr val="FFFFFF"/>
                </a:solidFill>
                <a:latin typeface="IBM Plex Sans" pitchFamily="34" charset="0"/>
                <a:ea typeface="IBM Plex Sans" pitchFamily="34" charset="-122"/>
                <a:cs typeface="IBM Plex Sans" pitchFamily="34" charset="-120"/>
              </a:rPr>
              <a:t>2</a:t>
            </a:r>
            <a:endParaRPr lang="en-US" sz="1400" dirty="0"/>
          </a:p>
        </p:txBody>
      </p:sp>
      <p:sp>
        <p:nvSpPr>
          <p:cNvPr id="5" name="Text 3"/>
          <p:cNvSpPr/>
          <p:nvPr/>
        </p:nvSpPr>
        <p:spPr>
          <a:xfrm>
            <a:off x="1320800" y="1254720"/>
            <a:ext cx="10360152" cy="405110"/>
          </a:xfrm>
          <a:prstGeom prst="rect">
            <a:avLst/>
          </a:prstGeom>
          <a:noFill/>
          <a:ln/>
        </p:spPr>
        <p:txBody>
          <a:bodyPr wrap="square" lIns="0" tIns="0" rIns="0" bIns="0" rtlCol="0" anchor="t">
            <a:normAutofit/>
          </a:bodyPr>
          <a:lstStyle/>
          <a:p>
            <a:pPr marL="0" indent="0" algn="l">
              <a:lnSpc>
                <a:spcPts val="2990"/>
              </a:lnSpc>
              <a:buNone/>
            </a:pPr>
            <a:r>
              <a:rPr lang="en-US" sz="2600" b="1" dirty="0">
                <a:solidFill>
                  <a:srgbClr val="1B1B1F"/>
                </a:solidFill>
                <a:latin typeface="Space Grotesk" pitchFamily="34" charset="0"/>
                <a:ea typeface="Space Grotesk" pitchFamily="34" charset="-122"/>
                <a:cs typeface="Space Grotesk" pitchFamily="34" charset="-120"/>
              </a:rPr>
              <a:t>Responding is a coordination problem, not a writing problem</a:t>
            </a:r>
            <a:endParaRPr lang="en-US" sz="2600" dirty="0"/>
          </a:p>
        </p:txBody>
      </p:sp>
      <p:sp>
        <p:nvSpPr>
          <p:cNvPr id="6" name="Shape 4"/>
          <p:cNvSpPr/>
          <p:nvPr/>
        </p:nvSpPr>
        <p:spPr>
          <a:xfrm>
            <a:off x="815975" y="1866205"/>
            <a:ext cx="5341541" cy="2824559"/>
          </a:xfrm>
          <a:prstGeom prst="roundRect">
            <a:avLst>
              <a:gd name="adj" fmla="val 4384"/>
            </a:avLst>
          </a:prstGeom>
          <a:solidFill>
            <a:srgbClr val="FFFFFF"/>
          </a:solidFill>
          <a:ln w="6350">
            <a:solidFill>
              <a:srgbClr val="E4E2DD"/>
            </a:solidFill>
            <a:prstDash val="solid"/>
          </a:ln>
        </p:spPr>
        <p:txBody>
          <a:bodyPr/>
          <a:lstStyle/>
          <a:p>
            <a:endParaRPr lang="es-CO"/>
          </a:p>
        </p:txBody>
      </p:sp>
      <p:sp>
        <p:nvSpPr>
          <p:cNvPr id="7" name="Text 5"/>
          <p:cNvSpPr/>
          <p:nvPr/>
        </p:nvSpPr>
        <p:spPr>
          <a:xfrm>
            <a:off x="1098550" y="2148780"/>
            <a:ext cx="4919682"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B1F"/>
                </a:solidFill>
                <a:latin typeface="IBM Plex Sans" pitchFamily="34" charset="0"/>
                <a:ea typeface="IBM Plex Sans" pitchFamily="34" charset="-122"/>
                <a:cs typeface="IBM Plex Sans" pitchFamily="34" charset="-120"/>
              </a:rPr>
              <a:t>The SE's job</a:t>
            </a:r>
            <a:endParaRPr lang="en-US" sz="1600" dirty="0"/>
          </a:p>
        </p:txBody>
      </p:sp>
      <p:sp>
        <p:nvSpPr>
          <p:cNvPr id="8" name="Text 6"/>
          <p:cNvSpPr/>
          <p:nvPr/>
        </p:nvSpPr>
        <p:spPr>
          <a:xfrm>
            <a:off x="1098550" y="2519610"/>
            <a:ext cx="4919682" cy="2075259"/>
          </a:xfrm>
          <a:prstGeom prst="rect">
            <a:avLst/>
          </a:prstGeom>
          <a:noFill/>
          <a:ln/>
        </p:spPr>
        <p:txBody>
          <a:bodyPr wrap="square" lIns="0" tIns="0" rIns="0" bIns="0" rtlCol="0" anchor="t">
            <a:normAutofit/>
          </a:bodyPr>
          <a:lstStyle/>
          <a:p>
            <a:pPr marL="205740" indent="-169037" algn="l">
              <a:lnSpc>
                <a:spcPts val="2025"/>
              </a:lnSpc>
              <a:buSzPct val="100000"/>
              <a:buChar char="•"/>
            </a:pPr>
            <a:r>
              <a:rPr lang="en-US" sz="1350" dirty="0">
                <a:solidFill>
                  <a:srgbClr val="4A4F57"/>
                </a:solidFill>
                <a:latin typeface="IBM Plex Sans" pitchFamily="34" charset="0"/>
                <a:ea typeface="IBM Plex Sans" pitchFamily="34" charset="-122"/>
                <a:cs typeface="IBM Plex Sans" pitchFamily="34" charset="-120"/>
              </a:rPr>
              <a:t>Validate information before it goes out</a:t>
            </a:r>
            <a:endParaRPr lang="en-US" sz="1350" dirty="0"/>
          </a:p>
          <a:p>
            <a:pPr marL="205740" indent="-169037" algn="l">
              <a:lnSpc>
                <a:spcPts val="2025"/>
              </a:lnSpc>
              <a:buSzPct val="100000"/>
              <a:buChar char="•"/>
            </a:pPr>
            <a:r>
              <a:rPr lang="en-US" sz="1350" dirty="0">
                <a:solidFill>
                  <a:srgbClr val="4A4F57"/>
                </a:solidFill>
                <a:latin typeface="IBM Plex Sans" pitchFamily="34" charset="0"/>
                <a:ea typeface="IBM Plex Sans" pitchFamily="34" charset="-122"/>
                <a:cs typeface="IBM Plex Sans" pitchFamily="34" charset="-120"/>
              </a:rPr>
              <a:t>Gather the right supporting material</a:t>
            </a:r>
            <a:endParaRPr lang="en-US" sz="1350" dirty="0"/>
          </a:p>
          <a:p>
            <a:pPr marL="205740" indent="-169037" algn="l">
              <a:lnSpc>
                <a:spcPts val="2025"/>
              </a:lnSpc>
              <a:buSzPct val="100000"/>
              <a:buChar char="•"/>
            </a:pPr>
            <a:r>
              <a:rPr lang="en-US" sz="1350" dirty="0">
                <a:solidFill>
                  <a:srgbClr val="4A4F57"/>
                </a:solidFill>
                <a:latin typeface="IBM Plex Sans" pitchFamily="34" charset="0"/>
                <a:ea typeface="IBM Plex Sans" pitchFamily="34" charset="-122"/>
                <a:cs typeface="IBM Plex Sans" pitchFamily="34" charset="-120"/>
              </a:rPr>
              <a:t>Request and coordinate specialist support</a:t>
            </a:r>
          </a:p>
          <a:p>
            <a:pPr marL="205740" indent="-169037">
              <a:lnSpc>
                <a:spcPts val="2025"/>
              </a:lnSpc>
              <a:buSzPct val="100000"/>
              <a:buFontTx/>
              <a:buChar char="•"/>
            </a:pPr>
            <a:r>
              <a:rPr lang="en-US" sz="1350" dirty="0">
                <a:solidFill>
                  <a:srgbClr val="4A4F57"/>
                </a:solidFill>
                <a:latin typeface="IBM Plex Sans" pitchFamily="34" charset="0"/>
                <a:ea typeface="IBM Plex Sans" pitchFamily="34" charset="-122"/>
                <a:cs typeface="IBM Plex Sans" pitchFamily="34" charset="-120"/>
              </a:rPr>
              <a:t>Show proof: demos, references, documentation</a:t>
            </a:r>
            <a:endParaRPr lang="en-US" sz="1350" dirty="0"/>
          </a:p>
          <a:p>
            <a:pPr marL="205740" indent="-169037" algn="l">
              <a:lnSpc>
                <a:spcPts val="2025"/>
              </a:lnSpc>
              <a:buSzPct val="100000"/>
              <a:buChar char="•"/>
            </a:pPr>
            <a:endParaRPr lang="en-US" sz="1350" dirty="0"/>
          </a:p>
        </p:txBody>
      </p:sp>
      <p:sp>
        <p:nvSpPr>
          <p:cNvPr id="9" name="Shape 7"/>
          <p:cNvSpPr/>
          <p:nvPr/>
        </p:nvSpPr>
        <p:spPr>
          <a:xfrm>
            <a:off x="6468666" y="1866205"/>
            <a:ext cx="4907359" cy="2824559"/>
          </a:xfrm>
          <a:prstGeom prst="roundRect">
            <a:avLst>
              <a:gd name="adj" fmla="val 4384"/>
            </a:avLst>
          </a:prstGeom>
          <a:solidFill>
            <a:srgbClr val="FFFFFF"/>
          </a:solidFill>
          <a:ln w="6350">
            <a:solidFill>
              <a:srgbClr val="E4E2DD"/>
            </a:solidFill>
            <a:prstDash val="solid"/>
          </a:ln>
        </p:spPr>
        <p:txBody>
          <a:bodyPr/>
          <a:lstStyle/>
          <a:p>
            <a:endParaRPr lang="es-CO"/>
          </a:p>
        </p:txBody>
      </p:sp>
      <p:sp>
        <p:nvSpPr>
          <p:cNvPr id="10" name="Text 8"/>
          <p:cNvSpPr/>
          <p:nvPr/>
        </p:nvSpPr>
        <p:spPr>
          <a:xfrm>
            <a:off x="6751241" y="2148780"/>
            <a:ext cx="447247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B1F"/>
                </a:solidFill>
                <a:latin typeface="IBM Plex Sans" pitchFamily="34" charset="0"/>
                <a:ea typeface="IBM Plex Sans" pitchFamily="34" charset="-122"/>
                <a:cs typeface="IBM Plex Sans" pitchFamily="34" charset="-120"/>
              </a:rPr>
              <a:t>Who they pull in</a:t>
            </a:r>
            <a:endParaRPr lang="en-US" sz="1600" dirty="0"/>
          </a:p>
        </p:txBody>
      </p:sp>
      <p:sp>
        <p:nvSpPr>
          <p:cNvPr id="11" name="Shape 9"/>
          <p:cNvSpPr/>
          <p:nvPr/>
        </p:nvSpPr>
        <p:spPr>
          <a:xfrm>
            <a:off x="6751241" y="2519611"/>
            <a:ext cx="696268" cy="408930"/>
          </a:xfrm>
          <a:prstGeom prst="roundRect">
            <a:avLst>
              <a:gd name="adj" fmla="val 50000"/>
            </a:avLst>
          </a:prstGeom>
          <a:solidFill>
            <a:srgbClr val="F1EFEA"/>
          </a:solidFill>
          <a:ln/>
        </p:spPr>
        <p:txBody>
          <a:bodyPr/>
          <a:lstStyle/>
          <a:p>
            <a:endParaRPr lang="es-CO"/>
          </a:p>
        </p:txBody>
      </p:sp>
      <p:sp>
        <p:nvSpPr>
          <p:cNvPr id="12" name="Text 10"/>
          <p:cNvSpPr/>
          <p:nvPr/>
        </p:nvSpPr>
        <p:spPr>
          <a:xfrm>
            <a:off x="6903641" y="2608511"/>
            <a:ext cx="442268"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1B1F"/>
                </a:solidFill>
                <a:latin typeface="IBM Plex Sans" pitchFamily="34" charset="0"/>
                <a:ea typeface="IBM Plex Sans" pitchFamily="34" charset="-122"/>
                <a:cs typeface="IBM Plex Sans" pitchFamily="34" charset="-120"/>
              </a:rPr>
              <a:t>Legal</a:t>
            </a:r>
            <a:endParaRPr lang="en-US" sz="1300" dirty="0"/>
          </a:p>
        </p:txBody>
      </p:sp>
      <p:sp>
        <p:nvSpPr>
          <p:cNvPr id="13" name="Shape 11"/>
          <p:cNvSpPr/>
          <p:nvPr/>
        </p:nvSpPr>
        <p:spPr>
          <a:xfrm>
            <a:off x="7549108" y="2519611"/>
            <a:ext cx="885974" cy="408930"/>
          </a:xfrm>
          <a:prstGeom prst="roundRect">
            <a:avLst>
              <a:gd name="adj" fmla="val 50000"/>
            </a:avLst>
          </a:prstGeom>
          <a:solidFill>
            <a:srgbClr val="F1EFEA"/>
          </a:solidFill>
          <a:ln/>
        </p:spPr>
        <p:txBody>
          <a:bodyPr/>
          <a:lstStyle/>
          <a:p>
            <a:endParaRPr lang="es-CO"/>
          </a:p>
        </p:txBody>
      </p:sp>
      <p:sp>
        <p:nvSpPr>
          <p:cNvPr id="14" name="Text 12"/>
          <p:cNvSpPr/>
          <p:nvPr/>
        </p:nvSpPr>
        <p:spPr>
          <a:xfrm>
            <a:off x="7701508" y="2608511"/>
            <a:ext cx="631974"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1B1F"/>
                </a:solidFill>
                <a:latin typeface="IBM Plex Sans" pitchFamily="34" charset="0"/>
                <a:ea typeface="IBM Plex Sans" pitchFamily="34" charset="-122"/>
                <a:cs typeface="IBM Plex Sans" pitchFamily="34" charset="-120"/>
              </a:rPr>
              <a:t>Product</a:t>
            </a:r>
            <a:endParaRPr lang="en-US" sz="1300" dirty="0"/>
          </a:p>
        </p:txBody>
      </p:sp>
      <p:sp>
        <p:nvSpPr>
          <p:cNvPr id="15" name="Shape 13"/>
          <p:cNvSpPr/>
          <p:nvPr/>
        </p:nvSpPr>
        <p:spPr>
          <a:xfrm>
            <a:off x="8536682" y="2519611"/>
            <a:ext cx="910431" cy="408930"/>
          </a:xfrm>
          <a:prstGeom prst="roundRect">
            <a:avLst>
              <a:gd name="adj" fmla="val 50000"/>
            </a:avLst>
          </a:prstGeom>
          <a:solidFill>
            <a:srgbClr val="F1EFEA"/>
          </a:solidFill>
          <a:ln/>
        </p:spPr>
        <p:txBody>
          <a:bodyPr/>
          <a:lstStyle/>
          <a:p>
            <a:endParaRPr lang="es-CO"/>
          </a:p>
        </p:txBody>
      </p:sp>
      <p:sp>
        <p:nvSpPr>
          <p:cNvPr id="16" name="Text 14"/>
          <p:cNvSpPr/>
          <p:nvPr/>
        </p:nvSpPr>
        <p:spPr>
          <a:xfrm>
            <a:off x="8689082" y="2608511"/>
            <a:ext cx="656431"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1B1F"/>
                </a:solidFill>
                <a:latin typeface="IBM Plex Sans" pitchFamily="34" charset="0"/>
                <a:ea typeface="IBM Plex Sans" pitchFamily="34" charset="-122"/>
                <a:cs typeface="IBM Plex Sans" pitchFamily="34" charset="-120"/>
              </a:rPr>
              <a:t>Security</a:t>
            </a:r>
            <a:endParaRPr lang="en-US" sz="1300" dirty="0"/>
          </a:p>
        </p:txBody>
      </p:sp>
      <p:sp>
        <p:nvSpPr>
          <p:cNvPr id="17" name="Shape 15"/>
          <p:cNvSpPr/>
          <p:nvPr/>
        </p:nvSpPr>
        <p:spPr>
          <a:xfrm>
            <a:off x="9548713" y="2519611"/>
            <a:ext cx="1122065" cy="408930"/>
          </a:xfrm>
          <a:prstGeom prst="roundRect">
            <a:avLst>
              <a:gd name="adj" fmla="val 50000"/>
            </a:avLst>
          </a:prstGeom>
          <a:solidFill>
            <a:srgbClr val="F1EFEA"/>
          </a:solidFill>
          <a:ln/>
        </p:spPr>
        <p:txBody>
          <a:bodyPr/>
          <a:lstStyle/>
          <a:p>
            <a:endParaRPr lang="es-CO"/>
          </a:p>
        </p:txBody>
      </p:sp>
      <p:sp>
        <p:nvSpPr>
          <p:cNvPr id="18" name="Text 16"/>
          <p:cNvSpPr/>
          <p:nvPr/>
        </p:nvSpPr>
        <p:spPr>
          <a:xfrm>
            <a:off x="9701113" y="2608511"/>
            <a:ext cx="868065"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1B1F"/>
                </a:solidFill>
                <a:latin typeface="IBM Plex Sans" pitchFamily="34" charset="0"/>
                <a:ea typeface="IBM Plex Sans" pitchFamily="34" charset="-122"/>
                <a:cs typeface="IBM Plex Sans" pitchFamily="34" charset="-120"/>
              </a:rPr>
              <a:t>Operations</a:t>
            </a:r>
            <a:endParaRPr lang="en-US" sz="1300" dirty="0"/>
          </a:p>
        </p:txBody>
      </p:sp>
      <p:sp>
        <p:nvSpPr>
          <p:cNvPr id="19" name="Text 17"/>
          <p:cNvSpPr/>
          <p:nvPr/>
        </p:nvSpPr>
        <p:spPr>
          <a:xfrm>
            <a:off x="6751241" y="3055541"/>
            <a:ext cx="4472476" cy="7683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4A4F57"/>
                </a:solidFill>
                <a:latin typeface="IBM Plex Sans" pitchFamily="34" charset="0"/>
                <a:ea typeface="IBM Plex Sans" pitchFamily="34" charset="-122"/>
                <a:cs typeface="IBM Plex Sans" pitchFamily="34" charset="-120"/>
              </a:rPr>
              <a:t>Hand-off, review, sign-off. Domain owners validate and sign off the difficult, expertise-specific questions; the CoE requests and coordinates it.</a:t>
            </a:r>
            <a:endParaRPr lang="en-US" sz="1300" dirty="0"/>
          </a:p>
        </p:txBody>
      </p:sp>
      <p:sp>
        <p:nvSpPr>
          <p:cNvPr id="20" name="Shape 18"/>
          <p:cNvSpPr/>
          <p:nvPr/>
        </p:nvSpPr>
        <p:spPr>
          <a:xfrm>
            <a:off x="812800" y="4922540"/>
            <a:ext cx="10566400" cy="1122660"/>
          </a:xfrm>
          <a:prstGeom prst="roundRect">
            <a:avLst>
              <a:gd name="adj" fmla="val 13812"/>
            </a:avLst>
          </a:prstGeom>
          <a:solidFill>
            <a:srgbClr val="1B1B1F"/>
          </a:solidFill>
          <a:ln/>
        </p:spPr>
        <p:txBody>
          <a:bodyPr/>
          <a:lstStyle/>
          <a:p>
            <a:endParaRPr lang="es-CO"/>
          </a:p>
        </p:txBody>
      </p:sp>
      <p:sp>
        <p:nvSpPr>
          <p:cNvPr id="21" name="Text 19"/>
          <p:cNvSpPr/>
          <p:nvPr/>
        </p:nvSpPr>
        <p:spPr>
          <a:xfrm>
            <a:off x="1092200" y="5099957"/>
            <a:ext cx="1738086" cy="685799"/>
          </a:xfrm>
          <a:prstGeom prst="rect">
            <a:avLst/>
          </a:prstGeom>
          <a:noFill/>
          <a:ln/>
        </p:spPr>
        <p:txBody>
          <a:bodyPr wrap="none" lIns="0" tIns="0" rIns="0" bIns="0" rtlCol="0" anchor="ctr">
            <a:normAutofit/>
          </a:bodyPr>
          <a:lstStyle/>
          <a:p>
            <a:pPr marL="0" indent="0" algn="l">
              <a:lnSpc>
                <a:spcPts val="1680"/>
              </a:lnSpc>
              <a:buNone/>
            </a:pPr>
            <a:r>
              <a:rPr lang="en-US" sz="1200" b="1" kern="0" spc="100" dirty="0">
                <a:solidFill>
                  <a:srgbClr val="FF6B81"/>
                </a:solidFill>
                <a:latin typeface="IBM Plex Sans" pitchFamily="34" charset="0"/>
                <a:ea typeface="IBM Plex Sans" pitchFamily="34" charset="-122"/>
                <a:cs typeface="IBM Plex Sans" pitchFamily="34" charset="-120"/>
              </a:rPr>
              <a:t>THE FOUNDATION</a:t>
            </a:r>
            <a:endParaRPr lang="en-US" sz="1200" dirty="0"/>
          </a:p>
        </p:txBody>
      </p:sp>
      <p:sp>
        <p:nvSpPr>
          <p:cNvPr id="22" name="Text 20"/>
          <p:cNvSpPr/>
          <p:nvPr/>
        </p:nvSpPr>
        <p:spPr>
          <a:xfrm>
            <a:off x="2939142" y="5099957"/>
            <a:ext cx="8066315" cy="80010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1EFEA"/>
                </a:solidFill>
                <a:latin typeface="IBM Plex Sans" pitchFamily="34" charset="0"/>
                <a:ea typeface="IBM Plex Sans" pitchFamily="34" charset="-122"/>
                <a:cs typeface="IBM Plex Sans" pitchFamily="34" charset="-120"/>
              </a:rPr>
              <a:t>A knowledge base, curated and validated — sourced from documentation, internal material and past RFPs, owned by the domain experts who wrote it, refreshed as the product evolves. Good input is the only path to a good answer.</a:t>
            </a:r>
            <a:endParaRPr lang="en-US" sz="1400" dirty="0"/>
          </a:p>
        </p:txBody>
      </p:sp>
      <p:sp>
        <p:nvSpPr>
          <p:cNvPr id="23" name="Text 21"/>
          <p:cNvSpPr/>
          <p:nvPr/>
        </p:nvSpPr>
        <p:spPr>
          <a:xfrm>
            <a:off x="812800" y="6238280"/>
            <a:ext cx="461580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F98"/>
                </a:solidFill>
                <a:latin typeface="IBM Plex Sans" pitchFamily="34" charset="0"/>
                <a:ea typeface="IBM Plex Sans" pitchFamily="34" charset="-122"/>
                <a:cs typeface="IBM Plex Sans" pitchFamily="34" charset="-120"/>
              </a:rPr>
              <a:t>Sebastian Rojas Díaz — CoE RFP Manager, Candidate Presentation</a:t>
            </a:r>
            <a:endParaRPr lang="en-US" sz="1200" dirty="0"/>
          </a:p>
        </p:txBody>
      </p:sp>
      <p:sp>
        <p:nvSpPr>
          <p:cNvPr id="24" name="Text 22"/>
          <p:cNvSpPr/>
          <p:nvPr/>
        </p:nvSpPr>
        <p:spPr>
          <a:xfrm>
            <a:off x="9376817" y="6238280"/>
            <a:ext cx="2062455" cy="23872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8A8F98"/>
                </a:solidFill>
                <a:latin typeface="IBM Plex Sans" pitchFamily="34" charset="0"/>
                <a:ea typeface="IBM Plex Sans" pitchFamily="34" charset="-122"/>
                <a:cs typeface="IBM Plex Sans" pitchFamily="34" charset="-120"/>
              </a:rPr>
              <a:t>PART A — 30 / 90 / 180 PLAN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D6293F"/>
                </a:solidFill>
                <a:latin typeface="IBM Plex Sans" pitchFamily="34" charset="0"/>
                <a:ea typeface="IBM Plex Sans" pitchFamily="34" charset="-122"/>
                <a:cs typeface="IBM Plex Sans" pitchFamily="34" charset="-120"/>
              </a:rPr>
              <a:t>PART A — THE PLAN · DAYS 1–30</a:t>
            </a:r>
            <a:endParaRPr lang="en-US" sz="1200" dirty="0"/>
          </a:p>
        </p:txBody>
      </p:sp>
      <p:sp>
        <p:nvSpPr>
          <p:cNvPr id="3" name="Text 1"/>
          <p:cNvSpPr/>
          <p:nvPr/>
        </p:nvSpPr>
        <p:spPr>
          <a:xfrm>
            <a:off x="812800" y="1229320"/>
            <a:ext cx="10883392" cy="405110"/>
          </a:xfrm>
          <a:prstGeom prst="rect">
            <a:avLst/>
          </a:prstGeom>
          <a:noFill/>
          <a:ln/>
        </p:spPr>
        <p:txBody>
          <a:bodyPr wrap="square" lIns="0" tIns="0" rIns="0" bIns="0" rtlCol="0" anchor="t">
            <a:normAutofit/>
          </a:bodyPr>
          <a:lstStyle/>
          <a:p>
            <a:pPr marL="0" indent="0" algn="l">
              <a:lnSpc>
                <a:spcPts val="2990"/>
              </a:lnSpc>
              <a:buNone/>
            </a:pPr>
            <a:r>
              <a:rPr lang="en-US" sz="2600" b="1" dirty="0">
                <a:solidFill>
                  <a:srgbClr val="1B1B1F"/>
                </a:solidFill>
                <a:latin typeface="Space Grotesk" pitchFamily="34" charset="0"/>
                <a:ea typeface="Space Grotesk" pitchFamily="34" charset="-122"/>
                <a:cs typeface="Space Grotesk" pitchFamily="34" charset="-120"/>
              </a:rPr>
              <a:t>Learn the field, ship a working draft engine</a:t>
            </a:r>
            <a:endParaRPr lang="en-US" sz="2600" dirty="0"/>
          </a:p>
        </p:txBody>
      </p:sp>
      <p:sp>
        <p:nvSpPr>
          <p:cNvPr id="4" name="Text 2"/>
          <p:cNvSpPr/>
          <p:nvPr/>
        </p:nvSpPr>
        <p:spPr>
          <a:xfrm>
            <a:off x="812800" y="1812230"/>
            <a:ext cx="6003617" cy="238720"/>
          </a:xfrm>
          <a:prstGeom prst="rect">
            <a:avLst/>
          </a:prstGeom>
          <a:noFill/>
          <a:ln/>
        </p:spPr>
        <p:txBody>
          <a:bodyPr wrap="square" lIns="0" tIns="0" rIns="0" bIns="0" rtlCol="0" anchor="t">
            <a:normAutofit/>
          </a:bodyPr>
          <a:lstStyle/>
          <a:p>
            <a:pPr marL="0" indent="0" algn="l">
              <a:lnSpc>
                <a:spcPts val="1680"/>
              </a:lnSpc>
              <a:buNone/>
            </a:pPr>
            <a:r>
              <a:rPr lang="en-US" sz="1400" b="1" kern="0" spc="100" dirty="0">
                <a:solidFill>
                  <a:srgbClr val="3D5A80"/>
                </a:solidFill>
                <a:latin typeface="IBM Plex Sans" pitchFamily="34" charset="0"/>
                <a:ea typeface="IBM Plex Sans" pitchFamily="34" charset="-122"/>
                <a:cs typeface="IBM Plex Sans" pitchFamily="34" charset="-120"/>
              </a:rPr>
              <a:t>TASKS</a:t>
            </a:r>
            <a:endParaRPr lang="en-US" sz="1400" dirty="0"/>
          </a:p>
        </p:txBody>
      </p:sp>
      <p:sp>
        <p:nvSpPr>
          <p:cNvPr id="6" name="Text 3"/>
          <p:cNvSpPr/>
          <p:nvPr/>
        </p:nvSpPr>
        <p:spPr>
          <a:xfrm>
            <a:off x="812800" y="2127151"/>
            <a:ext cx="5032829" cy="3239988"/>
          </a:xfrm>
          <a:prstGeom prst="rect">
            <a:avLst/>
          </a:prstGeom>
          <a:noFill/>
          <a:ln/>
        </p:spPr>
        <p:txBody>
          <a:bodyPr wrap="square" lIns="0" tIns="0" rIns="0" bIns="0" rtlCol="0" anchor="t">
            <a:normAutofit/>
          </a:bodyPr>
          <a:lstStyle/>
          <a:p>
            <a:pPr marL="171450" indent="-171450" algn="l">
              <a:lnSpc>
                <a:spcPct val="150000"/>
              </a:lnSpc>
              <a:buFont typeface="Wingdings" panose="05000000000000000000" pitchFamily="2" charset="2"/>
              <a:buChar char="ü"/>
            </a:pPr>
            <a:r>
              <a:rPr lang="en-US" sz="1400" dirty="0">
                <a:solidFill>
                  <a:srgbClr val="4A4F57"/>
                </a:solidFill>
                <a:latin typeface="IBM Plex Sans" pitchFamily="34" charset="0"/>
                <a:ea typeface="IBM Plex Sans" pitchFamily="34" charset="-122"/>
                <a:cs typeface="IBM Plex Sans" pitchFamily="34" charset="-120"/>
              </a:rPr>
              <a:t>Run exploration interviews with SEs and core RFP stakeholders</a:t>
            </a:r>
          </a:p>
          <a:p>
            <a:pPr marL="171450" indent="-171450">
              <a:lnSpc>
                <a:spcPct val="150000"/>
              </a:lnSpc>
              <a:buFont typeface="Wingdings" panose="05000000000000000000" pitchFamily="2" charset="2"/>
              <a:buChar char="ü"/>
            </a:pPr>
            <a:r>
              <a:rPr lang="en-US" sz="1400" dirty="0">
                <a:solidFill>
                  <a:srgbClr val="4A4F57"/>
                </a:solidFill>
                <a:latin typeface="IBM Plex Sans" pitchFamily="34" charset="0"/>
                <a:ea typeface="IBM Plex Sans" pitchFamily="34" charset="-122"/>
                <a:cs typeface="IBM Plex Sans" pitchFamily="34" charset="-120"/>
              </a:rPr>
              <a:t>Map today's RFP process end to end</a:t>
            </a:r>
          </a:p>
          <a:p>
            <a:pPr marL="171450" indent="-171450">
              <a:lnSpc>
                <a:spcPct val="150000"/>
              </a:lnSpc>
              <a:buFont typeface="Wingdings" panose="05000000000000000000" pitchFamily="2" charset="2"/>
              <a:buChar char="ü"/>
            </a:pPr>
            <a:r>
              <a:rPr lang="en-US" sz="1400" dirty="0">
                <a:solidFill>
                  <a:srgbClr val="4A4F57"/>
                </a:solidFill>
                <a:latin typeface="IBM Plex Sans" pitchFamily="34" charset="0"/>
                <a:ea typeface="IBM Plex Sans" pitchFamily="34" charset="-122"/>
                <a:cs typeface="IBM Plex Sans" pitchFamily="34" charset="-120"/>
              </a:rPr>
              <a:t>Source, curate and validate knowledge base content</a:t>
            </a:r>
          </a:p>
          <a:p>
            <a:pPr marL="171450" indent="-171450">
              <a:lnSpc>
                <a:spcPct val="150000"/>
              </a:lnSpc>
              <a:buFont typeface="Wingdings" panose="05000000000000000000" pitchFamily="2" charset="2"/>
              <a:buChar char="ü"/>
            </a:pPr>
            <a:r>
              <a:rPr lang="en-US" sz="1400" dirty="0">
                <a:solidFill>
                  <a:srgbClr val="4A4F57"/>
                </a:solidFill>
                <a:latin typeface="IBM Plex Sans" pitchFamily="34" charset="0"/>
                <a:ea typeface="IBM Plex Sans" pitchFamily="34" charset="-122"/>
                <a:cs typeface="IBM Plex Sans" pitchFamily="34" charset="-120"/>
              </a:rPr>
              <a:t>Define bid / no-bid criteria and escalation gates</a:t>
            </a:r>
          </a:p>
          <a:p>
            <a:pPr marL="171450" indent="-171450">
              <a:lnSpc>
                <a:spcPct val="150000"/>
              </a:lnSpc>
              <a:buFont typeface="Wingdings" panose="05000000000000000000" pitchFamily="2" charset="2"/>
              <a:buChar char="ü"/>
            </a:pPr>
            <a:r>
              <a:rPr lang="en-US" sz="1400" dirty="0">
                <a:solidFill>
                  <a:srgbClr val="4A4F57"/>
                </a:solidFill>
                <a:latin typeface="IBM Plex Sans" pitchFamily="34" charset="0"/>
                <a:ea typeface="IBM Plex Sans" pitchFamily="34" charset="-122"/>
                <a:cs typeface="IBM Plex Sans" pitchFamily="34" charset="-120"/>
              </a:rPr>
              <a:t>Build and test the Version 1.0 tool: upload, draft, validate, export</a:t>
            </a:r>
          </a:p>
          <a:p>
            <a:pPr marL="171450" indent="-171450">
              <a:lnSpc>
                <a:spcPct val="150000"/>
              </a:lnSpc>
              <a:buFont typeface="Wingdings" panose="05000000000000000000" pitchFamily="2" charset="2"/>
              <a:buChar char="ü"/>
            </a:pPr>
            <a:r>
              <a:rPr lang="en-US" sz="1400" dirty="0">
                <a:solidFill>
                  <a:srgbClr val="4A4F57"/>
                </a:solidFill>
                <a:latin typeface="IBM Plex Sans" pitchFamily="34" charset="0"/>
                <a:ea typeface="IBM Plex Sans" pitchFamily="34" charset="-122"/>
                <a:cs typeface="IBM Plex Sans" pitchFamily="34" charset="-120"/>
              </a:rPr>
              <a:t>Audit last quarter's RFPs to capture baseline metrics</a:t>
            </a:r>
            <a:endParaRPr lang="en-US" sz="1400" dirty="0"/>
          </a:p>
          <a:p>
            <a:pPr marL="171450" indent="-171450">
              <a:lnSpc>
                <a:spcPct val="150000"/>
              </a:lnSpc>
              <a:buFont typeface="Wingdings" panose="05000000000000000000" pitchFamily="2" charset="2"/>
              <a:buChar char="ü"/>
            </a:pPr>
            <a:endParaRPr lang="en-US" sz="1400" dirty="0"/>
          </a:p>
          <a:p>
            <a:pPr marL="171450" indent="-171450">
              <a:lnSpc>
                <a:spcPct val="150000"/>
              </a:lnSpc>
              <a:buFont typeface="Wingdings" panose="05000000000000000000" pitchFamily="2" charset="2"/>
              <a:buChar char="ü"/>
            </a:pPr>
            <a:endParaRPr lang="en-US" sz="1400" dirty="0"/>
          </a:p>
          <a:p>
            <a:pPr marL="171450" indent="-171450">
              <a:lnSpc>
                <a:spcPct val="150000"/>
              </a:lnSpc>
              <a:buFont typeface="Wingdings" panose="05000000000000000000" pitchFamily="2" charset="2"/>
              <a:buChar char="ü"/>
            </a:pPr>
            <a:endParaRPr lang="en-US" sz="1400" dirty="0"/>
          </a:p>
          <a:p>
            <a:pPr marL="171450" indent="-171450">
              <a:lnSpc>
                <a:spcPct val="150000"/>
              </a:lnSpc>
              <a:buFont typeface="Wingdings" panose="05000000000000000000" pitchFamily="2" charset="2"/>
              <a:buChar char="ü"/>
            </a:pPr>
            <a:endParaRPr lang="en-US" sz="1400" dirty="0"/>
          </a:p>
          <a:p>
            <a:pPr marL="171450" indent="-171450">
              <a:lnSpc>
                <a:spcPct val="150000"/>
              </a:lnSpc>
              <a:buFont typeface="Wingdings" panose="05000000000000000000" pitchFamily="2" charset="2"/>
              <a:buChar char="ü"/>
            </a:pPr>
            <a:endParaRPr lang="en-US" sz="1400" dirty="0"/>
          </a:p>
          <a:p>
            <a:pPr marL="171450" indent="-171450" algn="l">
              <a:lnSpc>
                <a:spcPct val="150000"/>
              </a:lnSpc>
              <a:buFont typeface="Wingdings" panose="05000000000000000000" pitchFamily="2" charset="2"/>
              <a:buChar char="ü"/>
            </a:pPr>
            <a:endParaRPr lang="en-US" sz="1400" dirty="0"/>
          </a:p>
        </p:txBody>
      </p:sp>
      <p:sp>
        <p:nvSpPr>
          <p:cNvPr id="8" name="Text 4"/>
          <p:cNvSpPr/>
          <p:nvPr/>
        </p:nvSpPr>
        <p:spPr>
          <a:xfrm>
            <a:off x="1066800" y="2442071"/>
            <a:ext cx="2547371" cy="238720"/>
          </a:xfrm>
          <a:prstGeom prst="rect">
            <a:avLst/>
          </a:prstGeom>
          <a:noFill/>
          <a:ln/>
        </p:spPr>
        <p:txBody>
          <a:bodyPr wrap="square" lIns="0" tIns="0" rIns="0" bIns="0" rtlCol="0" anchor="t">
            <a:normAutofit/>
          </a:bodyPr>
          <a:lstStyle/>
          <a:p>
            <a:pPr marL="0" indent="0" algn="l">
              <a:lnSpc>
                <a:spcPts val="1680"/>
              </a:lnSpc>
              <a:buNone/>
            </a:pPr>
            <a:endParaRPr lang="en-US" sz="1200" dirty="0"/>
          </a:p>
        </p:txBody>
      </p:sp>
      <p:sp>
        <p:nvSpPr>
          <p:cNvPr id="17" name="Shape 9"/>
          <p:cNvSpPr/>
          <p:nvPr/>
        </p:nvSpPr>
        <p:spPr>
          <a:xfrm>
            <a:off x="6898729" y="1815405"/>
            <a:ext cx="4477296" cy="1945035"/>
          </a:xfrm>
          <a:prstGeom prst="roundRect">
            <a:avLst>
              <a:gd name="adj" fmla="val 6366"/>
            </a:avLst>
          </a:prstGeom>
          <a:solidFill>
            <a:srgbClr val="FFFFFF"/>
          </a:solidFill>
          <a:ln w="6350">
            <a:solidFill>
              <a:srgbClr val="E4E2DD"/>
            </a:solidFill>
            <a:prstDash val="solid"/>
          </a:ln>
        </p:spPr>
        <p:txBody>
          <a:bodyPr/>
          <a:lstStyle/>
          <a:p>
            <a:endParaRPr lang="es-CO" sz="2000"/>
          </a:p>
        </p:txBody>
      </p:sp>
      <p:sp>
        <p:nvSpPr>
          <p:cNvPr id="18" name="Text 10"/>
          <p:cNvSpPr/>
          <p:nvPr/>
        </p:nvSpPr>
        <p:spPr>
          <a:xfrm>
            <a:off x="7105104" y="2021780"/>
            <a:ext cx="4186482" cy="229840"/>
          </a:xfrm>
          <a:prstGeom prst="rect">
            <a:avLst/>
          </a:prstGeom>
          <a:noFill/>
          <a:ln/>
        </p:spPr>
        <p:txBody>
          <a:bodyPr wrap="square" lIns="0" tIns="0" rIns="0" bIns="0" rtlCol="0" anchor="t">
            <a:normAutofit/>
          </a:bodyPr>
          <a:lstStyle/>
          <a:p>
            <a:pPr marL="0" indent="0" algn="l">
              <a:lnSpc>
                <a:spcPts val="1610"/>
              </a:lnSpc>
              <a:buNone/>
            </a:pPr>
            <a:r>
              <a:rPr lang="en-US" sz="1400" b="1" kern="0" spc="100" dirty="0">
                <a:solidFill>
                  <a:srgbClr val="D6293F"/>
                </a:solidFill>
                <a:latin typeface="IBM Plex Sans" pitchFamily="34" charset="0"/>
                <a:ea typeface="IBM Plex Sans" pitchFamily="34" charset="-122"/>
                <a:cs typeface="IBM Plex Sans" pitchFamily="34" charset="-120"/>
              </a:rPr>
              <a:t>DELIVERABLE</a:t>
            </a:r>
            <a:endParaRPr lang="en-US" sz="1400" dirty="0"/>
          </a:p>
        </p:txBody>
      </p:sp>
      <p:sp>
        <p:nvSpPr>
          <p:cNvPr id="19" name="Text 11"/>
          <p:cNvSpPr/>
          <p:nvPr/>
        </p:nvSpPr>
        <p:spPr>
          <a:xfrm>
            <a:off x="7105104" y="2315121"/>
            <a:ext cx="4186482" cy="930870"/>
          </a:xfrm>
          <a:prstGeom prst="rect">
            <a:avLst/>
          </a:prstGeom>
          <a:noFill/>
          <a:ln/>
        </p:spPr>
        <p:txBody>
          <a:bodyPr wrap="square" lIns="0" tIns="0" rIns="0" bIns="0" rtlCol="0" anchor="t">
            <a:normAutofit/>
          </a:bodyPr>
          <a:lstStyle/>
          <a:p>
            <a:pPr marL="175260" indent="-154813" algn="l">
              <a:lnSpc>
                <a:spcPts val="1783"/>
              </a:lnSpc>
              <a:buSzPct val="100000"/>
              <a:buChar char="•"/>
            </a:pPr>
            <a:r>
              <a:rPr lang="en-US" sz="1400" dirty="0">
                <a:solidFill>
                  <a:srgbClr val="4A4F57"/>
                </a:solidFill>
                <a:latin typeface="IBM Plex Sans" pitchFamily="34" charset="0"/>
                <a:ea typeface="IBM Plex Sans" pitchFamily="34" charset="-122"/>
                <a:cs typeface="IBM Plex Sans" pitchFamily="34" charset="-120"/>
              </a:rPr>
              <a:t>Knowledge base, first release</a:t>
            </a:r>
            <a:endParaRPr lang="en-US" sz="1400" dirty="0"/>
          </a:p>
          <a:p>
            <a:pPr marL="175260" indent="-154813" algn="l">
              <a:lnSpc>
                <a:spcPts val="1783"/>
              </a:lnSpc>
              <a:buSzPct val="100000"/>
              <a:buChar char="•"/>
            </a:pPr>
            <a:r>
              <a:rPr lang="en-US" sz="1400" dirty="0">
                <a:solidFill>
                  <a:srgbClr val="4A4F57"/>
                </a:solidFill>
                <a:latin typeface="IBM Plex Sans" pitchFamily="34" charset="0"/>
                <a:ea typeface="IBM Plex Sans" pitchFamily="34" charset="-122"/>
                <a:cs typeface="IBM Plex Sans" pitchFamily="34" charset="-120"/>
              </a:rPr>
              <a:t>Tool, Version 1.0</a:t>
            </a:r>
            <a:endParaRPr lang="en-US" sz="1400" dirty="0"/>
          </a:p>
          <a:p>
            <a:pPr marL="175260" indent="-154813" algn="l">
              <a:lnSpc>
                <a:spcPts val="1783"/>
              </a:lnSpc>
              <a:buSzPct val="100000"/>
              <a:buChar char="•"/>
            </a:pPr>
            <a:r>
              <a:rPr lang="en-US" sz="1400" dirty="0">
                <a:solidFill>
                  <a:srgbClr val="4A4F57"/>
                </a:solidFill>
                <a:latin typeface="IBM Plex Sans" pitchFamily="34" charset="0"/>
                <a:ea typeface="IBM Plex Sans" pitchFamily="34" charset="-122"/>
                <a:cs typeface="IBM Plex Sans" pitchFamily="34" charset="-120"/>
              </a:rPr>
              <a:t>Bid / no-bid rules, documented</a:t>
            </a:r>
            <a:endParaRPr lang="en-US" sz="1400" dirty="0"/>
          </a:p>
          <a:p>
            <a:pPr marL="175260" indent="-154813" algn="l">
              <a:lnSpc>
                <a:spcPts val="1783"/>
              </a:lnSpc>
              <a:buSzPct val="100000"/>
              <a:buChar char="•"/>
            </a:pPr>
            <a:r>
              <a:rPr lang="en-US" sz="1400" dirty="0">
                <a:solidFill>
                  <a:srgbClr val="4A4F57"/>
                </a:solidFill>
                <a:latin typeface="IBM Plex Sans" pitchFamily="34" charset="0"/>
                <a:ea typeface="IBM Plex Sans" pitchFamily="34" charset="-122"/>
                <a:cs typeface="IBM Plex Sans" pitchFamily="34" charset="-120"/>
              </a:rPr>
              <a:t>Baseline metrics report</a:t>
            </a:r>
            <a:endParaRPr lang="en-US" sz="1400" dirty="0"/>
          </a:p>
        </p:txBody>
      </p:sp>
      <p:sp>
        <p:nvSpPr>
          <p:cNvPr id="20" name="Shape 12"/>
          <p:cNvSpPr/>
          <p:nvPr/>
        </p:nvSpPr>
        <p:spPr>
          <a:xfrm>
            <a:off x="6898729" y="3893790"/>
            <a:ext cx="4477296" cy="1945035"/>
          </a:xfrm>
          <a:prstGeom prst="roundRect">
            <a:avLst>
              <a:gd name="adj" fmla="val 6366"/>
            </a:avLst>
          </a:prstGeom>
          <a:solidFill>
            <a:srgbClr val="EFEBE4"/>
          </a:solidFill>
          <a:ln w="6350">
            <a:solidFill>
              <a:srgbClr val="E2DED5"/>
            </a:solidFill>
            <a:prstDash val="solid"/>
          </a:ln>
        </p:spPr>
        <p:txBody>
          <a:bodyPr/>
          <a:lstStyle/>
          <a:p>
            <a:endParaRPr lang="es-CO"/>
          </a:p>
        </p:txBody>
      </p:sp>
      <p:sp>
        <p:nvSpPr>
          <p:cNvPr id="21" name="Text 13"/>
          <p:cNvSpPr/>
          <p:nvPr/>
        </p:nvSpPr>
        <p:spPr>
          <a:xfrm>
            <a:off x="7105104" y="4100165"/>
            <a:ext cx="4186482" cy="229840"/>
          </a:xfrm>
          <a:prstGeom prst="rect">
            <a:avLst/>
          </a:prstGeom>
          <a:noFill/>
          <a:ln/>
        </p:spPr>
        <p:txBody>
          <a:bodyPr wrap="square" lIns="0" tIns="0" rIns="0" bIns="0" rtlCol="0" anchor="t">
            <a:normAutofit/>
          </a:bodyPr>
          <a:lstStyle/>
          <a:p>
            <a:pPr marL="0" indent="0" algn="l">
              <a:lnSpc>
                <a:spcPts val="1610"/>
              </a:lnSpc>
              <a:buNone/>
            </a:pPr>
            <a:r>
              <a:rPr lang="en-US" sz="1400" b="1" kern="0" spc="100" dirty="0">
                <a:solidFill>
                  <a:srgbClr val="9A9FA8"/>
                </a:solidFill>
                <a:latin typeface="IBM Plex Sans" pitchFamily="34" charset="0"/>
                <a:ea typeface="IBM Plex Sans" pitchFamily="34" charset="-122"/>
                <a:cs typeface="IBM Plex Sans" pitchFamily="34" charset="-120"/>
              </a:rPr>
              <a:t>LIMITATIONS</a:t>
            </a:r>
            <a:endParaRPr lang="en-US" sz="1400" dirty="0"/>
          </a:p>
        </p:txBody>
      </p:sp>
      <p:sp>
        <p:nvSpPr>
          <p:cNvPr id="22" name="Text 14"/>
          <p:cNvSpPr/>
          <p:nvPr/>
        </p:nvSpPr>
        <p:spPr>
          <a:xfrm>
            <a:off x="7105104" y="4393505"/>
            <a:ext cx="4186482" cy="674886"/>
          </a:xfrm>
          <a:prstGeom prst="rect">
            <a:avLst/>
          </a:prstGeom>
          <a:noFill/>
          <a:ln/>
        </p:spPr>
        <p:txBody>
          <a:bodyPr wrap="square" lIns="0" tIns="0" rIns="0" bIns="0" rtlCol="0" anchor="t">
            <a:normAutofit/>
          </a:bodyPr>
          <a:lstStyle/>
          <a:p>
            <a:pPr marL="167640" indent="-148082" algn="l">
              <a:lnSpc>
                <a:spcPts val="1705"/>
              </a:lnSpc>
              <a:buSzPct val="100000"/>
              <a:buChar char="•"/>
            </a:pPr>
            <a:r>
              <a:rPr lang="en-US" sz="1400" dirty="0">
                <a:solidFill>
                  <a:srgbClr val="8A8F98"/>
                </a:solidFill>
                <a:latin typeface="IBM Plex Sans" pitchFamily="34" charset="0"/>
                <a:ea typeface="IBM Plex Sans" pitchFamily="34" charset="-122"/>
                <a:cs typeface="IBM Plex Sans" pitchFamily="34" charset="-120"/>
              </a:rPr>
              <a:t>Coordination stays manual — email</a:t>
            </a:r>
            <a:endParaRPr lang="en-US" sz="1400" dirty="0"/>
          </a:p>
          <a:p>
            <a:pPr marL="167640" indent="-148082" algn="l">
              <a:lnSpc>
                <a:spcPts val="1705"/>
              </a:lnSpc>
              <a:buSzPct val="100000"/>
              <a:buChar char="•"/>
            </a:pPr>
            <a:r>
              <a:rPr lang="en-US" sz="1400" dirty="0">
                <a:solidFill>
                  <a:srgbClr val="8A8F98"/>
                </a:solidFill>
                <a:latin typeface="IBM Plex Sans" pitchFamily="34" charset="0"/>
                <a:ea typeface="IBM Plex Sans" pitchFamily="34" charset="-122"/>
                <a:cs typeface="IBM Plex Sans" pitchFamily="34" charset="-120"/>
              </a:rPr>
              <a:t>No multi-user profiles yet</a:t>
            </a:r>
            <a:endParaRPr lang="en-US" sz="1400" dirty="0"/>
          </a:p>
          <a:p>
            <a:pPr marL="167640" indent="-148082" algn="l">
              <a:lnSpc>
                <a:spcPts val="1705"/>
              </a:lnSpc>
              <a:buSzPct val="100000"/>
              <a:buChar char="•"/>
            </a:pPr>
            <a:r>
              <a:rPr lang="en-US" sz="1400" dirty="0">
                <a:solidFill>
                  <a:srgbClr val="8A8F98"/>
                </a:solidFill>
                <a:latin typeface="IBM Plex Sans" pitchFamily="34" charset="0"/>
                <a:ea typeface="IBM Plex Sans" pitchFamily="34" charset="-122"/>
                <a:cs typeface="IBM Plex Sans" pitchFamily="34" charset="-120"/>
              </a:rPr>
              <a:t>No automated work allocation</a:t>
            </a:r>
            <a:endParaRPr lang="en-US" sz="1400" dirty="0"/>
          </a:p>
        </p:txBody>
      </p:sp>
      <p:sp>
        <p:nvSpPr>
          <p:cNvPr id="23" name="Text 15"/>
          <p:cNvSpPr/>
          <p:nvPr/>
        </p:nvSpPr>
        <p:spPr>
          <a:xfrm>
            <a:off x="812800" y="6238280"/>
            <a:ext cx="461580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F98"/>
                </a:solidFill>
                <a:latin typeface="IBM Plex Sans" pitchFamily="34" charset="0"/>
                <a:ea typeface="IBM Plex Sans" pitchFamily="34" charset="-122"/>
                <a:cs typeface="IBM Plex Sans" pitchFamily="34" charset="-120"/>
              </a:rPr>
              <a:t>Sebastian Rojas Díaz — CoE RFP Manager, Candidate Presentation</a:t>
            </a:r>
            <a:endParaRPr lang="en-US" sz="1200" dirty="0"/>
          </a:p>
        </p:txBody>
      </p:sp>
      <p:sp>
        <p:nvSpPr>
          <p:cNvPr id="24" name="Text 16"/>
          <p:cNvSpPr/>
          <p:nvPr/>
        </p:nvSpPr>
        <p:spPr>
          <a:xfrm>
            <a:off x="9376817" y="6238280"/>
            <a:ext cx="2062455" cy="23872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8A8F98"/>
                </a:solidFill>
                <a:latin typeface="IBM Plex Sans" pitchFamily="34" charset="0"/>
                <a:ea typeface="IBM Plex Sans" pitchFamily="34" charset="-122"/>
                <a:cs typeface="IBM Plex Sans" pitchFamily="34" charset="-120"/>
              </a:rPr>
              <a:t>PART A — 30 / 90 / 180 PLAN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D6293F"/>
                </a:solidFill>
                <a:latin typeface="IBM Plex Sans" pitchFamily="34" charset="0"/>
                <a:ea typeface="IBM Plex Sans" pitchFamily="34" charset="-122"/>
                <a:cs typeface="IBM Plex Sans" pitchFamily="34" charset="-120"/>
              </a:rPr>
              <a:t>PART A — THE PLAN · DAYS 31–90</a:t>
            </a:r>
            <a:endParaRPr lang="en-US" sz="1200" dirty="0"/>
          </a:p>
        </p:txBody>
      </p:sp>
      <p:sp>
        <p:nvSpPr>
          <p:cNvPr id="3" name="Text 1"/>
          <p:cNvSpPr/>
          <p:nvPr/>
        </p:nvSpPr>
        <p:spPr>
          <a:xfrm>
            <a:off x="812800" y="1229320"/>
            <a:ext cx="10883392" cy="405110"/>
          </a:xfrm>
          <a:prstGeom prst="rect">
            <a:avLst/>
          </a:prstGeom>
          <a:noFill/>
          <a:ln/>
        </p:spPr>
        <p:txBody>
          <a:bodyPr wrap="square" lIns="0" tIns="0" rIns="0" bIns="0" rtlCol="0" anchor="t">
            <a:normAutofit/>
          </a:bodyPr>
          <a:lstStyle/>
          <a:p>
            <a:pPr marL="0" indent="0" algn="l">
              <a:lnSpc>
                <a:spcPts val="2990"/>
              </a:lnSpc>
              <a:buNone/>
            </a:pPr>
            <a:r>
              <a:rPr lang="en-US" sz="2600" b="1" dirty="0">
                <a:solidFill>
                  <a:srgbClr val="1B1B1F"/>
                </a:solidFill>
                <a:latin typeface="Space Grotesk" pitchFamily="34" charset="0"/>
                <a:ea typeface="Space Grotesk" pitchFamily="34" charset="-122"/>
                <a:cs typeface="Space Grotesk" pitchFamily="34" charset="-120"/>
              </a:rPr>
              <a:t>Open it up: many users, real collaboration, smarter assist</a:t>
            </a:r>
            <a:endParaRPr lang="en-US" sz="2600" dirty="0"/>
          </a:p>
        </p:txBody>
      </p:sp>
      <p:sp>
        <p:nvSpPr>
          <p:cNvPr id="4" name="Text 2"/>
          <p:cNvSpPr/>
          <p:nvPr/>
        </p:nvSpPr>
        <p:spPr>
          <a:xfrm>
            <a:off x="812800" y="1812230"/>
            <a:ext cx="6003617" cy="238720"/>
          </a:xfrm>
          <a:prstGeom prst="rect">
            <a:avLst/>
          </a:prstGeom>
          <a:noFill/>
          <a:ln/>
        </p:spPr>
        <p:txBody>
          <a:bodyPr wrap="square" lIns="0" tIns="0" rIns="0" bIns="0" rtlCol="0" anchor="t">
            <a:normAutofit/>
          </a:bodyPr>
          <a:lstStyle/>
          <a:p>
            <a:pPr marL="0" indent="0" algn="l">
              <a:lnSpc>
                <a:spcPts val="1680"/>
              </a:lnSpc>
              <a:buNone/>
            </a:pPr>
            <a:r>
              <a:rPr lang="en-US" sz="1400" b="1" kern="0" spc="100" dirty="0">
                <a:solidFill>
                  <a:srgbClr val="3D5A80"/>
                </a:solidFill>
                <a:latin typeface="IBM Plex Sans" pitchFamily="34" charset="0"/>
                <a:ea typeface="IBM Plex Sans" pitchFamily="34" charset="-122"/>
                <a:cs typeface="IBM Plex Sans" pitchFamily="34" charset="-120"/>
              </a:rPr>
              <a:t>TASKS</a:t>
            </a:r>
            <a:endParaRPr lang="en-US" sz="1600" dirty="0"/>
          </a:p>
        </p:txBody>
      </p:sp>
      <p:sp>
        <p:nvSpPr>
          <p:cNvPr id="6" name="Text 3"/>
          <p:cNvSpPr/>
          <p:nvPr/>
        </p:nvSpPr>
        <p:spPr>
          <a:xfrm>
            <a:off x="812800" y="2127151"/>
            <a:ext cx="5408386" cy="2941240"/>
          </a:xfrm>
          <a:prstGeom prst="rect">
            <a:avLst/>
          </a:prstGeom>
          <a:noFill/>
          <a:ln/>
        </p:spPr>
        <p:txBody>
          <a:bodyPr wrap="square" lIns="0" tIns="0" rIns="0" bIns="0" rtlCol="0" anchor="t">
            <a:normAutofit/>
          </a:bodyPr>
          <a:lstStyle/>
          <a:p>
            <a:pPr marL="171450" indent="-171450" algn="l">
              <a:lnSpc>
                <a:spcPct val="150000"/>
              </a:lnSpc>
              <a:buFont typeface="Wingdings" panose="05000000000000000000" pitchFamily="2" charset="2"/>
              <a:buChar char="ü"/>
            </a:pPr>
            <a:r>
              <a:rPr lang="en-US" sz="1400" dirty="0">
                <a:solidFill>
                  <a:srgbClr val="4A4F57"/>
                </a:solidFill>
                <a:latin typeface="IBM Plex Sans" pitchFamily="34" charset="0"/>
                <a:ea typeface="IBM Plex Sans" pitchFamily="34" charset="-122"/>
                <a:cs typeface="IBM Plex Sans" pitchFamily="34" charset="-120"/>
              </a:rPr>
              <a:t>Roll out individual SE profiles and RFPs across the field</a:t>
            </a:r>
          </a:p>
          <a:p>
            <a:pPr marL="171450" indent="-171450">
              <a:lnSpc>
                <a:spcPct val="150000"/>
              </a:lnSpc>
              <a:buFont typeface="Wingdings" panose="05000000000000000000" pitchFamily="2" charset="2"/>
              <a:buChar char="ü"/>
            </a:pPr>
            <a:r>
              <a:rPr lang="en-US" sz="1400" dirty="0">
                <a:solidFill>
                  <a:srgbClr val="4A4F57"/>
                </a:solidFill>
                <a:latin typeface="IBM Plex Sans" pitchFamily="34" charset="0"/>
                <a:ea typeface="IBM Plex Sans" pitchFamily="34" charset="-122"/>
                <a:cs typeface="IBM Plex Sans" pitchFamily="34" charset="-120"/>
              </a:rPr>
              <a:t>Stand up comments, mentions and question tagging</a:t>
            </a:r>
          </a:p>
          <a:p>
            <a:pPr marL="171450" indent="-171450">
              <a:lnSpc>
                <a:spcPct val="150000"/>
              </a:lnSpc>
              <a:buFont typeface="Wingdings" panose="05000000000000000000" pitchFamily="2" charset="2"/>
              <a:buChar char="ü"/>
            </a:pPr>
            <a:r>
              <a:rPr lang="en-US" sz="1400" dirty="0">
                <a:solidFill>
                  <a:srgbClr val="4A4F57"/>
                </a:solidFill>
                <a:latin typeface="IBM Plex Sans" pitchFamily="34" charset="0"/>
                <a:ea typeface="IBM Plex Sans" pitchFamily="34" charset="-122"/>
                <a:cs typeface="IBM Plex Sans" pitchFamily="34" charset="-120"/>
              </a:rPr>
              <a:t>Enable side-by-side exploration of multiple KB-sourced answers</a:t>
            </a:r>
          </a:p>
          <a:p>
            <a:pPr marL="171450" indent="-171450">
              <a:lnSpc>
                <a:spcPct val="150000"/>
              </a:lnSpc>
              <a:buFont typeface="Wingdings" panose="05000000000000000000" pitchFamily="2" charset="2"/>
              <a:buChar char="ü"/>
            </a:pPr>
            <a:r>
              <a:rPr lang="en-US" sz="1400" dirty="0">
                <a:solidFill>
                  <a:srgbClr val="4A4F57"/>
                </a:solidFill>
                <a:latin typeface="IBM Plex Sans" pitchFamily="34" charset="0"/>
                <a:ea typeface="IBM Plex Sans" pitchFamily="34" charset="-122"/>
                <a:cs typeface="IBM Plex Sans" pitchFamily="34" charset="-120"/>
              </a:rPr>
              <a:t>Ship elaborate / expand / summarize AI actions</a:t>
            </a:r>
          </a:p>
          <a:p>
            <a:pPr marL="171450" indent="-171450">
              <a:lnSpc>
                <a:spcPct val="150000"/>
              </a:lnSpc>
              <a:buFont typeface="Wingdings" panose="05000000000000000000" pitchFamily="2" charset="2"/>
              <a:buChar char="ü"/>
            </a:pPr>
            <a:r>
              <a:rPr lang="en-US" sz="1400" dirty="0">
                <a:solidFill>
                  <a:srgbClr val="4A4F57"/>
                </a:solidFill>
                <a:latin typeface="IBM Plex Sans" pitchFamily="34" charset="0"/>
                <a:ea typeface="IBM Plex Sans" pitchFamily="34" charset="-122"/>
                <a:cs typeface="IBM Plex Sans" pitchFamily="34" charset="-120"/>
              </a:rPr>
              <a:t>Run structured feedback sessions with early-adopter Ses</a:t>
            </a:r>
          </a:p>
          <a:p>
            <a:pPr marL="171450" indent="-171450">
              <a:lnSpc>
                <a:spcPct val="150000"/>
              </a:lnSpc>
              <a:buFont typeface="Wingdings" panose="05000000000000000000" pitchFamily="2" charset="2"/>
              <a:buChar char="ü"/>
            </a:pPr>
            <a:r>
              <a:rPr lang="en-US" sz="1400" dirty="0">
                <a:solidFill>
                  <a:srgbClr val="4A4F57"/>
                </a:solidFill>
                <a:latin typeface="IBM Plex Sans" pitchFamily="34" charset="0"/>
                <a:ea typeface="IBM Plex Sans" pitchFamily="34" charset="-122"/>
                <a:cs typeface="IBM Plex Sans" pitchFamily="34" charset="-120"/>
              </a:rPr>
              <a:t>Scope and design the DDN IAM integration for the next phase's pilot</a:t>
            </a:r>
            <a:endParaRPr lang="en-US" sz="1400" dirty="0"/>
          </a:p>
          <a:p>
            <a:pPr marL="171450" indent="-171450">
              <a:lnSpc>
                <a:spcPct val="150000"/>
              </a:lnSpc>
              <a:buFont typeface="Wingdings" panose="05000000000000000000" pitchFamily="2" charset="2"/>
              <a:buChar char="ü"/>
            </a:pPr>
            <a:endParaRPr lang="en-US" sz="1400" dirty="0"/>
          </a:p>
          <a:p>
            <a:pPr marL="171450" indent="-171450">
              <a:lnSpc>
                <a:spcPct val="150000"/>
              </a:lnSpc>
              <a:buFont typeface="Wingdings" panose="05000000000000000000" pitchFamily="2" charset="2"/>
              <a:buChar char="ü"/>
            </a:pPr>
            <a:endParaRPr lang="en-US" sz="1400" dirty="0"/>
          </a:p>
          <a:p>
            <a:pPr marL="171450" indent="-171450">
              <a:lnSpc>
                <a:spcPct val="150000"/>
              </a:lnSpc>
              <a:buFont typeface="Wingdings" panose="05000000000000000000" pitchFamily="2" charset="2"/>
              <a:buChar char="ü"/>
            </a:pPr>
            <a:endParaRPr lang="en-US" sz="1400" dirty="0"/>
          </a:p>
          <a:p>
            <a:pPr marL="171450" indent="-171450">
              <a:lnSpc>
                <a:spcPct val="150000"/>
              </a:lnSpc>
              <a:buFont typeface="Wingdings" panose="05000000000000000000" pitchFamily="2" charset="2"/>
              <a:buChar char="ü"/>
            </a:pPr>
            <a:endParaRPr lang="en-US" sz="1400" dirty="0"/>
          </a:p>
          <a:p>
            <a:pPr marL="171450" indent="-171450" algn="l">
              <a:lnSpc>
                <a:spcPct val="150000"/>
              </a:lnSpc>
              <a:buFont typeface="Wingdings" panose="05000000000000000000" pitchFamily="2" charset="2"/>
              <a:buChar char="ü"/>
            </a:pPr>
            <a:endParaRPr lang="en-US" sz="1400" dirty="0"/>
          </a:p>
        </p:txBody>
      </p:sp>
      <p:sp>
        <p:nvSpPr>
          <p:cNvPr id="17" name="Shape 9"/>
          <p:cNvSpPr/>
          <p:nvPr/>
        </p:nvSpPr>
        <p:spPr>
          <a:xfrm>
            <a:off x="6898729" y="1815405"/>
            <a:ext cx="4477296" cy="1945035"/>
          </a:xfrm>
          <a:prstGeom prst="roundRect">
            <a:avLst>
              <a:gd name="adj" fmla="val 6366"/>
            </a:avLst>
          </a:prstGeom>
          <a:solidFill>
            <a:srgbClr val="FFFFFF"/>
          </a:solidFill>
          <a:ln w="6350">
            <a:solidFill>
              <a:srgbClr val="E4E2DD"/>
            </a:solidFill>
            <a:prstDash val="solid"/>
          </a:ln>
        </p:spPr>
        <p:txBody>
          <a:bodyPr/>
          <a:lstStyle/>
          <a:p>
            <a:endParaRPr lang="es-CO"/>
          </a:p>
        </p:txBody>
      </p:sp>
      <p:sp>
        <p:nvSpPr>
          <p:cNvPr id="18" name="Text 10"/>
          <p:cNvSpPr/>
          <p:nvPr/>
        </p:nvSpPr>
        <p:spPr>
          <a:xfrm>
            <a:off x="7105104" y="2021780"/>
            <a:ext cx="4186482" cy="229840"/>
          </a:xfrm>
          <a:prstGeom prst="rect">
            <a:avLst/>
          </a:prstGeom>
          <a:noFill/>
          <a:ln/>
        </p:spPr>
        <p:txBody>
          <a:bodyPr wrap="square" lIns="0" tIns="0" rIns="0" bIns="0" rtlCol="0" anchor="t">
            <a:normAutofit/>
          </a:bodyPr>
          <a:lstStyle/>
          <a:p>
            <a:pPr marL="0" indent="0" algn="l">
              <a:lnSpc>
                <a:spcPts val="1610"/>
              </a:lnSpc>
              <a:buNone/>
            </a:pPr>
            <a:r>
              <a:rPr lang="en-US" sz="1400" b="1" kern="0" spc="100" dirty="0">
                <a:solidFill>
                  <a:srgbClr val="D6293F"/>
                </a:solidFill>
                <a:latin typeface="IBM Plex Sans" pitchFamily="34" charset="0"/>
                <a:ea typeface="IBM Plex Sans" pitchFamily="34" charset="-122"/>
                <a:cs typeface="IBM Plex Sans" pitchFamily="34" charset="-120"/>
              </a:rPr>
              <a:t>DELIVERABLE</a:t>
            </a:r>
            <a:endParaRPr lang="en-US" sz="1400" dirty="0"/>
          </a:p>
        </p:txBody>
      </p:sp>
      <p:sp>
        <p:nvSpPr>
          <p:cNvPr id="19" name="Text 11"/>
          <p:cNvSpPr/>
          <p:nvPr/>
        </p:nvSpPr>
        <p:spPr>
          <a:xfrm>
            <a:off x="7105104" y="2315121"/>
            <a:ext cx="4186482" cy="930870"/>
          </a:xfrm>
          <a:prstGeom prst="rect">
            <a:avLst/>
          </a:prstGeom>
          <a:noFill/>
          <a:ln/>
        </p:spPr>
        <p:txBody>
          <a:bodyPr wrap="square" lIns="0" tIns="0" rIns="0" bIns="0" rtlCol="0" anchor="t">
            <a:normAutofit/>
          </a:bodyPr>
          <a:lstStyle/>
          <a:p>
            <a:pPr marL="175260" indent="-154813" algn="l">
              <a:lnSpc>
                <a:spcPts val="1783"/>
              </a:lnSpc>
              <a:buSzPct val="100000"/>
              <a:buChar char="•"/>
            </a:pPr>
            <a:r>
              <a:rPr lang="en-US" sz="1400" dirty="0">
                <a:solidFill>
                  <a:srgbClr val="4A4F57"/>
                </a:solidFill>
                <a:latin typeface="IBM Plex Sans" pitchFamily="34" charset="0"/>
                <a:ea typeface="IBM Plex Sans" pitchFamily="34" charset="-122"/>
                <a:cs typeface="IBM Plex Sans" pitchFamily="34" charset="-120"/>
              </a:rPr>
              <a:t>Multi-user platform, interim access</a:t>
            </a:r>
            <a:endParaRPr lang="en-US" sz="1400" dirty="0"/>
          </a:p>
          <a:p>
            <a:pPr marL="175260" indent="-154813" algn="l">
              <a:lnSpc>
                <a:spcPts val="1783"/>
              </a:lnSpc>
              <a:buSzPct val="100000"/>
              <a:buChar char="•"/>
            </a:pPr>
            <a:r>
              <a:rPr lang="en-US" sz="1400" dirty="0">
                <a:solidFill>
                  <a:srgbClr val="4A4F57"/>
                </a:solidFill>
                <a:latin typeface="IBM Plex Sans" pitchFamily="34" charset="0"/>
                <a:ea typeface="IBM Plex Sans" pitchFamily="34" charset="-122"/>
                <a:cs typeface="IBM Plex Sans" pitchFamily="34" charset="-120"/>
              </a:rPr>
              <a:t>Collaboration layer</a:t>
            </a:r>
            <a:endParaRPr lang="en-US" sz="1400" dirty="0"/>
          </a:p>
          <a:p>
            <a:pPr marL="175260" indent="-154813" algn="l">
              <a:lnSpc>
                <a:spcPts val="1783"/>
              </a:lnSpc>
              <a:buSzPct val="100000"/>
              <a:buChar char="•"/>
            </a:pPr>
            <a:r>
              <a:rPr lang="en-US" sz="1400" dirty="0">
                <a:solidFill>
                  <a:srgbClr val="4A4F57"/>
                </a:solidFill>
                <a:latin typeface="IBM Plex Sans" pitchFamily="34" charset="0"/>
                <a:ea typeface="IBM Plex Sans" pitchFamily="34" charset="-122"/>
                <a:cs typeface="IBM Plex Sans" pitchFamily="34" charset="-120"/>
              </a:rPr>
              <a:t>AI assist actions</a:t>
            </a:r>
            <a:endParaRPr lang="en-US" sz="1400" dirty="0"/>
          </a:p>
          <a:p>
            <a:pPr marL="175260" indent="-154813" algn="l">
              <a:lnSpc>
                <a:spcPts val="1783"/>
              </a:lnSpc>
              <a:buSzPct val="100000"/>
              <a:buChar char="•"/>
            </a:pPr>
            <a:r>
              <a:rPr lang="en-US" sz="1400" dirty="0">
                <a:solidFill>
                  <a:srgbClr val="4A4F57"/>
                </a:solidFill>
                <a:latin typeface="IBM Plex Sans" pitchFamily="34" charset="0"/>
                <a:ea typeface="IBM Plex Sans" pitchFamily="34" charset="-122"/>
                <a:cs typeface="IBM Plex Sans" pitchFamily="34" charset="-120"/>
              </a:rPr>
              <a:t>Feedback-driven backlog</a:t>
            </a:r>
            <a:endParaRPr lang="en-US" sz="1400" dirty="0"/>
          </a:p>
        </p:txBody>
      </p:sp>
      <p:sp>
        <p:nvSpPr>
          <p:cNvPr id="20" name="Shape 12"/>
          <p:cNvSpPr/>
          <p:nvPr/>
        </p:nvSpPr>
        <p:spPr>
          <a:xfrm>
            <a:off x="6898729" y="3893790"/>
            <a:ext cx="4477296" cy="1945035"/>
          </a:xfrm>
          <a:prstGeom prst="roundRect">
            <a:avLst>
              <a:gd name="adj" fmla="val 6366"/>
            </a:avLst>
          </a:prstGeom>
          <a:solidFill>
            <a:srgbClr val="EFEBE4"/>
          </a:solidFill>
          <a:ln w="6350">
            <a:solidFill>
              <a:srgbClr val="E2DED5"/>
            </a:solidFill>
            <a:prstDash val="solid"/>
          </a:ln>
        </p:spPr>
        <p:txBody>
          <a:bodyPr/>
          <a:lstStyle/>
          <a:p>
            <a:endParaRPr lang="es-CO"/>
          </a:p>
        </p:txBody>
      </p:sp>
      <p:sp>
        <p:nvSpPr>
          <p:cNvPr id="21" name="Text 13"/>
          <p:cNvSpPr/>
          <p:nvPr/>
        </p:nvSpPr>
        <p:spPr>
          <a:xfrm>
            <a:off x="7105104" y="4100165"/>
            <a:ext cx="4186482" cy="229840"/>
          </a:xfrm>
          <a:prstGeom prst="rect">
            <a:avLst/>
          </a:prstGeom>
          <a:noFill/>
          <a:ln/>
        </p:spPr>
        <p:txBody>
          <a:bodyPr wrap="square" lIns="0" tIns="0" rIns="0" bIns="0" rtlCol="0" anchor="t">
            <a:normAutofit/>
          </a:bodyPr>
          <a:lstStyle/>
          <a:p>
            <a:pPr marL="0" indent="0" algn="l">
              <a:lnSpc>
                <a:spcPts val="1610"/>
              </a:lnSpc>
              <a:buNone/>
            </a:pPr>
            <a:r>
              <a:rPr lang="en-US" sz="1400" b="1" kern="0" spc="100" dirty="0">
                <a:solidFill>
                  <a:srgbClr val="9A9FA8"/>
                </a:solidFill>
                <a:latin typeface="IBM Plex Sans" pitchFamily="34" charset="0"/>
                <a:ea typeface="IBM Plex Sans" pitchFamily="34" charset="-122"/>
                <a:cs typeface="IBM Plex Sans" pitchFamily="34" charset="-120"/>
              </a:rPr>
              <a:t>LIMITATIONS</a:t>
            </a:r>
            <a:endParaRPr lang="en-US" sz="1400" dirty="0"/>
          </a:p>
        </p:txBody>
      </p:sp>
      <p:sp>
        <p:nvSpPr>
          <p:cNvPr id="22" name="Text 14"/>
          <p:cNvSpPr/>
          <p:nvPr/>
        </p:nvSpPr>
        <p:spPr>
          <a:xfrm>
            <a:off x="7105104" y="4393505"/>
            <a:ext cx="4186482" cy="674886"/>
          </a:xfrm>
          <a:prstGeom prst="rect">
            <a:avLst/>
          </a:prstGeom>
          <a:noFill/>
          <a:ln/>
        </p:spPr>
        <p:txBody>
          <a:bodyPr wrap="square" lIns="0" tIns="0" rIns="0" bIns="0" rtlCol="0" anchor="t">
            <a:normAutofit/>
          </a:bodyPr>
          <a:lstStyle/>
          <a:p>
            <a:pPr marL="167640" indent="-148082" algn="l">
              <a:lnSpc>
                <a:spcPts val="1705"/>
              </a:lnSpc>
              <a:buSzPct val="100000"/>
              <a:buChar char="•"/>
            </a:pPr>
            <a:r>
              <a:rPr lang="en-US" sz="1400" dirty="0">
                <a:solidFill>
                  <a:srgbClr val="8A8F98"/>
                </a:solidFill>
                <a:latin typeface="IBM Plex Sans" pitchFamily="34" charset="0"/>
                <a:ea typeface="IBM Plex Sans" pitchFamily="34" charset="-122"/>
                <a:cs typeface="IBM Plex Sans" pitchFamily="34" charset="-120"/>
              </a:rPr>
              <a:t>Coordination still routed by hand</a:t>
            </a:r>
            <a:endParaRPr lang="en-US" sz="1400" dirty="0"/>
          </a:p>
          <a:p>
            <a:pPr marL="167640" indent="-148082" algn="l">
              <a:lnSpc>
                <a:spcPts val="1705"/>
              </a:lnSpc>
              <a:buSzPct val="100000"/>
              <a:buChar char="•"/>
            </a:pPr>
            <a:r>
              <a:rPr lang="en-US" sz="1400" dirty="0">
                <a:solidFill>
                  <a:srgbClr val="8A8F98"/>
                </a:solidFill>
                <a:latin typeface="IBM Plex Sans" pitchFamily="34" charset="0"/>
                <a:ea typeface="IBM Plex Sans" pitchFamily="34" charset="-122"/>
                <a:cs typeface="IBM Plex Sans" pitchFamily="34" charset="-120"/>
              </a:rPr>
              <a:t>Bid / no-bid still a recommendation</a:t>
            </a:r>
            <a:endParaRPr lang="en-US" sz="1400" dirty="0"/>
          </a:p>
          <a:p>
            <a:pPr marL="167640" indent="-148082" algn="l">
              <a:lnSpc>
                <a:spcPts val="1705"/>
              </a:lnSpc>
              <a:buSzPct val="100000"/>
              <a:buChar char="•"/>
            </a:pPr>
            <a:r>
              <a:rPr lang="en-US" sz="1400" dirty="0">
                <a:solidFill>
                  <a:srgbClr val="8A8F98"/>
                </a:solidFill>
                <a:latin typeface="IBM Plex Sans" pitchFamily="34" charset="0"/>
                <a:ea typeface="IBM Plex Sans" pitchFamily="34" charset="-122"/>
                <a:cs typeface="IBM Plex Sans" pitchFamily="34" charset="-120"/>
              </a:rPr>
              <a:t>Single sign-on not yet integrated</a:t>
            </a:r>
            <a:endParaRPr lang="en-US" sz="1400" dirty="0"/>
          </a:p>
        </p:txBody>
      </p:sp>
      <p:sp>
        <p:nvSpPr>
          <p:cNvPr id="23" name="Text 15"/>
          <p:cNvSpPr/>
          <p:nvPr/>
        </p:nvSpPr>
        <p:spPr>
          <a:xfrm>
            <a:off x="812800" y="6238280"/>
            <a:ext cx="461580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F98"/>
                </a:solidFill>
                <a:latin typeface="IBM Plex Sans" pitchFamily="34" charset="0"/>
                <a:ea typeface="IBM Plex Sans" pitchFamily="34" charset="-122"/>
                <a:cs typeface="IBM Plex Sans" pitchFamily="34" charset="-120"/>
              </a:rPr>
              <a:t>Sebastian Rojas Díaz — CoE RFP Manager, Candidate Presentation</a:t>
            </a:r>
            <a:endParaRPr lang="en-US" sz="1200" dirty="0"/>
          </a:p>
        </p:txBody>
      </p:sp>
      <p:sp>
        <p:nvSpPr>
          <p:cNvPr id="24" name="Text 16"/>
          <p:cNvSpPr/>
          <p:nvPr/>
        </p:nvSpPr>
        <p:spPr>
          <a:xfrm>
            <a:off x="9376817" y="6238280"/>
            <a:ext cx="2062455" cy="23872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8A8F98"/>
                </a:solidFill>
                <a:latin typeface="IBM Plex Sans" pitchFamily="34" charset="0"/>
                <a:ea typeface="IBM Plex Sans" pitchFamily="34" charset="-122"/>
                <a:cs typeface="IBM Plex Sans" pitchFamily="34" charset="-120"/>
              </a:rPr>
              <a:t>PART A — 30 / 90 / 180 PLAN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D6293F"/>
                </a:solidFill>
                <a:latin typeface="IBM Plex Sans" pitchFamily="34" charset="0"/>
                <a:ea typeface="IBM Plex Sans" pitchFamily="34" charset="-122"/>
                <a:cs typeface="IBM Plex Sans" pitchFamily="34" charset="-120"/>
              </a:rPr>
              <a:t>PART A — THE PLAN · DAYS 91–180</a:t>
            </a:r>
            <a:endParaRPr lang="en-US" sz="1200" dirty="0"/>
          </a:p>
        </p:txBody>
      </p:sp>
      <p:sp>
        <p:nvSpPr>
          <p:cNvPr id="3" name="Text 1"/>
          <p:cNvSpPr/>
          <p:nvPr/>
        </p:nvSpPr>
        <p:spPr>
          <a:xfrm>
            <a:off x="812800" y="1203920"/>
            <a:ext cx="10883392" cy="375890"/>
          </a:xfrm>
          <a:prstGeom prst="rect">
            <a:avLst/>
          </a:prstGeom>
          <a:noFill/>
          <a:ln/>
        </p:spPr>
        <p:txBody>
          <a:bodyPr wrap="square" lIns="0" tIns="0" rIns="0" bIns="0" rtlCol="0" anchor="t">
            <a:normAutofit/>
          </a:bodyPr>
          <a:lstStyle/>
          <a:p>
            <a:pPr marL="0" indent="0" algn="l">
              <a:lnSpc>
                <a:spcPts val="2760"/>
              </a:lnSpc>
              <a:buNone/>
            </a:pPr>
            <a:r>
              <a:rPr lang="en-US" sz="2600" b="1" dirty="0">
                <a:solidFill>
                  <a:srgbClr val="1B1B1F"/>
                </a:solidFill>
                <a:latin typeface="Space Grotesk" pitchFamily="34" charset="0"/>
                <a:ea typeface="Space Grotesk" pitchFamily="34" charset="-122"/>
                <a:cs typeface="Space Grotesk" pitchFamily="34" charset="-120"/>
              </a:rPr>
              <a:t>Let the knowledge base learn from every RFP</a:t>
            </a:r>
            <a:endParaRPr lang="en-US" sz="2600" dirty="0"/>
          </a:p>
        </p:txBody>
      </p:sp>
      <p:sp>
        <p:nvSpPr>
          <p:cNvPr id="4" name="Text 2"/>
          <p:cNvSpPr/>
          <p:nvPr/>
        </p:nvSpPr>
        <p:spPr>
          <a:xfrm>
            <a:off x="812800" y="1732211"/>
            <a:ext cx="6003617" cy="238720"/>
          </a:xfrm>
          <a:prstGeom prst="rect">
            <a:avLst/>
          </a:prstGeom>
          <a:noFill/>
          <a:ln/>
        </p:spPr>
        <p:txBody>
          <a:bodyPr wrap="square" lIns="0" tIns="0" rIns="0" bIns="0" rtlCol="0" anchor="t">
            <a:normAutofit/>
          </a:bodyPr>
          <a:lstStyle/>
          <a:p>
            <a:pPr marL="0" indent="0" algn="l">
              <a:lnSpc>
                <a:spcPts val="1680"/>
              </a:lnSpc>
              <a:buNone/>
            </a:pPr>
            <a:r>
              <a:rPr lang="en-US" sz="1400" b="1" kern="0" spc="100" dirty="0">
                <a:solidFill>
                  <a:srgbClr val="3D5A80"/>
                </a:solidFill>
                <a:latin typeface="IBM Plex Sans" pitchFamily="34" charset="0"/>
                <a:ea typeface="IBM Plex Sans" pitchFamily="34" charset="-122"/>
                <a:cs typeface="IBM Plex Sans" pitchFamily="34" charset="-120"/>
              </a:rPr>
              <a:t>TASKS</a:t>
            </a:r>
            <a:endParaRPr lang="en-US" sz="1200" dirty="0"/>
          </a:p>
        </p:txBody>
      </p:sp>
      <p:sp>
        <p:nvSpPr>
          <p:cNvPr id="6" name="Text 3"/>
          <p:cNvSpPr/>
          <p:nvPr/>
        </p:nvSpPr>
        <p:spPr>
          <a:xfrm>
            <a:off x="812800" y="2047131"/>
            <a:ext cx="5283200" cy="3433826"/>
          </a:xfrm>
          <a:prstGeom prst="rect">
            <a:avLst/>
          </a:prstGeom>
          <a:noFill/>
          <a:ln/>
        </p:spPr>
        <p:txBody>
          <a:bodyPr wrap="square" lIns="0" tIns="0" rIns="0" bIns="0" rtlCol="0" anchor="t">
            <a:normAutofit/>
          </a:bodyPr>
          <a:lstStyle/>
          <a:p>
            <a:pPr marL="171450" indent="-171450" algn="l">
              <a:lnSpc>
                <a:spcPct val="150000"/>
              </a:lnSpc>
              <a:buFont typeface="Wingdings" panose="05000000000000000000" pitchFamily="2" charset="2"/>
              <a:buChar char="ü"/>
            </a:pPr>
            <a:r>
              <a:rPr lang="en-US" sz="1400" dirty="0">
                <a:solidFill>
                  <a:srgbClr val="4A4F57"/>
                </a:solidFill>
                <a:latin typeface="IBM Plex Sans" pitchFamily="34" charset="0"/>
                <a:ea typeface="IBM Plex Sans" pitchFamily="34" charset="-122"/>
                <a:cs typeface="IBM Plex Sans" pitchFamily="34" charset="-120"/>
              </a:rPr>
              <a:t>Pilot DDN IAM single sign-on with 5 SEs in one region</a:t>
            </a:r>
          </a:p>
          <a:p>
            <a:pPr marL="171450" indent="-171450">
              <a:lnSpc>
                <a:spcPct val="150000"/>
              </a:lnSpc>
              <a:buFont typeface="Wingdings" panose="05000000000000000000" pitchFamily="2" charset="2"/>
              <a:buChar char="ü"/>
            </a:pPr>
            <a:r>
              <a:rPr lang="en-US" sz="1400" dirty="0">
                <a:solidFill>
                  <a:srgbClr val="4A4F57"/>
                </a:solidFill>
                <a:latin typeface="IBM Plex Sans" pitchFamily="34" charset="0"/>
                <a:ea typeface="IBM Plex Sans" pitchFamily="34" charset="-122"/>
                <a:cs typeface="IBM Plex Sans" pitchFamily="34" charset="-120"/>
              </a:rPr>
              <a:t>Enable in-context answer curation while SEs explore the KB</a:t>
            </a:r>
          </a:p>
          <a:p>
            <a:pPr marL="171450" indent="-171450">
              <a:lnSpc>
                <a:spcPct val="150000"/>
              </a:lnSpc>
              <a:buFont typeface="Wingdings" panose="05000000000000000000" pitchFamily="2" charset="2"/>
              <a:buChar char="ü"/>
            </a:pPr>
            <a:r>
              <a:rPr lang="en-US" sz="1400" dirty="0">
                <a:solidFill>
                  <a:srgbClr val="4A4F57"/>
                </a:solidFill>
                <a:latin typeface="IBM Plex Sans" pitchFamily="34" charset="0"/>
                <a:ea typeface="IBM Plex Sans" pitchFamily="34" charset="-122"/>
                <a:cs typeface="IBM Plex Sans" pitchFamily="34" charset="-120"/>
              </a:rPr>
              <a:t>Track and surface usage counts per answer</a:t>
            </a:r>
          </a:p>
          <a:p>
            <a:pPr marL="171450" indent="-171450">
              <a:lnSpc>
                <a:spcPct val="150000"/>
              </a:lnSpc>
              <a:buFont typeface="Wingdings" panose="05000000000000000000" pitchFamily="2" charset="2"/>
              <a:buChar char="ü"/>
            </a:pPr>
            <a:r>
              <a:rPr lang="en-US" sz="1400" dirty="0">
                <a:solidFill>
                  <a:srgbClr val="4A4F57"/>
                </a:solidFill>
                <a:latin typeface="IBM Plex Sans" pitchFamily="34" charset="0"/>
                <a:ea typeface="IBM Plex Sans" pitchFamily="34" charset="-122"/>
                <a:cs typeface="IBM Plex Sans" pitchFamily="34" charset="-120"/>
              </a:rPr>
              <a:t>Stand up the SE-initiated KB contribution and admin-approval workflow</a:t>
            </a:r>
            <a:endParaRPr lang="en-US" sz="1400" dirty="0"/>
          </a:p>
          <a:p>
            <a:pPr marL="171450" indent="-171450">
              <a:lnSpc>
                <a:spcPct val="150000"/>
              </a:lnSpc>
              <a:buFont typeface="Wingdings" panose="05000000000000000000" pitchFamily="2" charset="2"/>
              <a:buChar char="ü"/>
            </a:pPr>
            <a:r>
              <a:rPr lang="en-US" sz="1400" dirty="0">
                <a:solidFill>
                  <a:srgbClr val="4A4F57"/>
                </a:solidFill>
                <a:latin typeface="IBM Plex Sans" pitchFamily="34" charset="0"/>
                <a:ea typeface="IBM Plex Sans" pitchFamily="34" charset="-122"/>
                <a:cs typeface="IBM Plex Sans" pitchFamily="34" charset="-120"/>
              </a:rPr>
              <a:t>Retrain bid / no-bid scoring on real outcomes</a:t>
            </a:r>
            <a:endParaRPr lang="en-US" sz="1400" dirty="0"/>
          </a:p>
          <a:p>
            <a:pPr marL="171450" indent="-171450">
              <a:lnSpc>
                <a:spcPct val="150000"/>
              </a:lnSpc>
              <a:buFont typeface="Wingdings" panose="05000000000000000000" pitchFamily="2" charset="2"/>
              <a:buChar char="ü"/>
            </a:pPr>
            <a:r>
              <a:rPr lang="en-US" sz="1400" dirty="0">
                <a:solidFill>
                  <a:srgbClr val="4A4F57"/>
                </a:solidFill>
                <a:latin typeface="IBM Plex Sans" pitchFamily="34" charset="0"/>
                <a:ea typeface="IBM Plex Sans" pitchFamily="34" charset="-122"/>
                <a:cs typeface="IBM Plex Sans" pitchFamily="34" charset="-120"/>
              </a:rPr>
              <a:t>Build the automatic work-allocation suggestion logic</a:t>
            </a:r>
            <a:endParaRPr lang="en-US" sz="1400" dirty="0"/>
          </a:p>
          <a:p>
            <a:pPr marL="171450" indent="-171450">
              <a:lnSpc>
                <a:spcPct val="150000"/>
              </a:lnSpc>
              <a:buFont typeface="Wingdings" panose="05000000000000000000" pitchFamily="2" charset="2"/>
              <a:buChar char="ü"/>
            </a:pPr>
            <a:endParaRPr lang="en-US" sz="1400" dirty="0"/>
          </a:p>
          <a:p>
            <a:pPr marL="171450" indent="-171450">
              <a:lnSpc>
                <a:spcPct val="150000"/>
              </a:lnSpc>
              <a:buFont typeface="Wingdings" panose="05000000000000000000" pitchFamily="2" charset="2"/>
              <a:buChar char="ü"/>
            </a:pPr>
            <a:endParaRPr lang="en-US" sz="1400" dirty="0"/>
          </a:p>
          <a:p>
            <a:pPr marL="171450" indent="-171450" algn="l">
              <a:lnSpc>
                <a:spcPct val="150000"/>
              </a:lnSpc>
              <a:buFont typeface="Wingdings" panose="05000000000000000000" pitchFamily="2" charset="2"/>
              <a:buChar char="ü"/>
            </a:pPr>
            <a:endParaRPr lang="en-US" sz="1400" dirty="0"/>
          </a:p>
        </p:txBody>
      </p:sp>
      <p:sp>
        <p:nvSpPr>
          <p:cNvPr id="10" name="Text 5"/>
          <p:cNvSpPr/>
          <p:nvPr/>
        </p:nvSpPr>
        <p:spPr>
          <a:xfrm>
            <a:off x="1066800" y="2659211"/>
            <a:ext cx="2907559" cy="229840"/>
          </a:xfrm>
          <a:prstGeom prst="rect">
            <a:avLst/>
          </a:prstGeom>
          <a:noFill/>
          <a:ln/>
        </p:spPr>
        <p:txBody>
          <a:bodyPr wrap="square" lIns="0" tIns="0" rIns="0" bIns="0" rtlCol="0" anchor="t">
            <a:normAutofit/>
          </a:bodyPr>
          <a:lstStyle/>
          <a:p>
            <a:pPr marL="0" indent="0" algn="l">
              <a:lnSpc>
                <a:spcPts val="1610"/>
              </a:lnSpc>
              <a:buNone/>
            </a:pPr>
            <a:endParaRPr lang="en-US" sz="1150" dirty="0"/>
          </a:p>
        </p:txBody>
      </p:sp>
      <p:sp>
        <p:nvSpPr>
          <p:cNvPr id="12" name="Text 6"/>
          <p:cNvSpPr/>
          <p:nvPr/>
        </p:nvSpPr>
        <p:spPr>
          <a:xfrm>
            <a:off x="1066800" y="2965252"/>
            <a:ext cx="4819224" cy="229840"/>
          </a:xfrm>
          <a:prstGeom prst="rect">
            <a:avLst/>
          </a:prstGeom>
          <a:noFill/>
          <a:ln/>
        </p:spPr>
        <p:txBody>
          <a:bodyPr wrap="square" lIns="0" tIns="0" rIns="0" bIns="0" rtlCol="0" anchor="t">
            <a:normAutofit/>
          </a:bodyPr>
          <a:lstStyle/>
          <a:p>
            <a:pPr marL="0" indent="0" algn="l">
              <a:lnSpc>
                <a:spcPts val="1610"/>
              </a:lnSpc>
              <a:buNone/>
            </a:pPr>
            <a:endParaRPr lang="en-US" sz="1150" dirty="0"/>
          </a:p>
        </p:txBody>
      </p:sp>
      <p:sp>
        <p:nvSpPr>
          <p:cNvPr id="14" name="Text 7"/>
          <p:cNvSpPr/>
          <p:nvPr/>
        </p:nvSpPr>
        <p:spPr>
          <a:xfrm>
            <a:off x="1066800" y="3271292"/>
            <a:ext cx="3034996" cy="229840"/>
          </a:xfrm>
          <a:prstGeom prst="rect">
            <a:avLst/>
          </a:prstGeom>
          <a:noFill/>
          <a:ln/>
        </p:spPr>
        <p:txBody>
          <a:bodyPr wrap="square" lIns="0" tIns="0" rIns="0" bIns="0" rtlCol="0" anchor="t">
            <a:normAutofit/>
          </a:bodyPr>
          <a:lstStyle/>
          <a:p>
            <a:pPr marL="0" indent="0" algn="l">
              <a:lnSpc>
                <a:spcPts val="1610"/>
              </a:lnSpc>
              <a:buNone/>
            </a:pPr>
            <a:endParaRPr lang="en-US" sz="1150" dirty="0"/>
          </a:p>
        </p:txBody>
      </p:sp>
      <p:sp>
        <p:nvSpPr>
          <p:cNvPr id="16" name="Text 8"/>
          <p:cNvSpPr/>
          <p:nvPr/>
        </p:nvSpPr>
        <p:spPr>
          <a:xfrm>
            <a:off x="1066800" y="3577332"/>
            <a:ext cx="3525994" cy="229840"/>
          </a:xfrm>
          <a:prstGeom prst="rect">
            <a:avLst/>
          </a:prstGeom>
          <a:noFill/>
          <a:ln/>
        </p:spPr>
        <p:txBody>
          <a:bodyPr wrap="square" lIns="0" tIns="0" rIns="0" bIns="0" rtlCol="0" anchor="t">
            <a:normAutofit/>
          </a:bodyPr>
          <a:lstStyle/>
          <a:p>
            <a:pPr marL="0" indent="0" algn="l">
              <a:lnSpc>
                <a:spcPts val="1610"/>
              </a:lnSpc>
              <a:buNone/>
            </a:pPr>
            <a:endParaRPr lang="en-US" sz="1150" dirty="0"/>
          </a:p>
        </p:txBody>
      </p:sp>
      <p:sp>
        <p:nvSpPr>
          <p:cNvPr id="17" name="Shape 9"/>
          <p:cNvSpPr/>
          <p:nvPr/>
        </p:nvSpPr>
        <p:spPr>
          <a:xfrm>
            <a:off x="6898729" y="1735386"/>
            <a:ext cx="4477296" cy="1985020"/>
          </a:xfrm>
          <a:prstGeom prst="roundRect">
            <a:avLst>
              <a:gd name="adj" fmla="val 6238"/>
            </a:avLst>
          </a:prstGeom>
          <a:solidFill>
            <a:srgbClr val="FFFFFF"/>
          </a:solidFill>
          <a:ln w="6350">
            <a:solidFill>
              <a:srgbClr val="E4E2DD"/>
            </a:solidFill>
            <a:prstDash val="solid"/>
          </a:ln>
        </p:spPr>
        <p:txBody>
          <a:bodyPr/>
          <a:lstStyle/>
          <a:p>
            <a:endParaRPr lang="es-CO"/>
          </a:p>
        </p:txBody>
      </p:sp>
      <p:sp>
        <p:nvSpPr>
          <p:cNvPr id="18" name="Text 10"/>
          <p:cNvSpPr/>
          <p:nvPr/>
        </p:nvSpPr>
        <p:spPr>
          <a:xfrm>
            <a:off x="7105104" y="1941761"/>
            <a:ext cx="4186482" cy="229840"/>
          </a:xfrm>
          <a:prstGeom prst="rect">
            <a:avLst/>
          </a:prstGeom>
          <a:noFill/>
          <a:ln/>
        </p:spPr>
        <p:txBody>
          <a:bodyPr wrap="square" lIns="0" tIns="0" rIns="0" bIns="0" rtlCol="0" anchor="t">
            <a:normAutofit/>
          </a:bodyPr>
          <a:lstStyle/>
          <a:p>
            <a:pPr marL="0" indent="0" algn="l">
              <a:lnSpc>
                <a:spcPts val="1610"/>
              </a:lnSpc>
              <a:buNone/>
            </a:pPr>
            <a:r>
              <a:rPr lang="en-US" sz="1400" b="1" kern="0" spc="100" dirty="0">
                <a:solidFill>
                  <a:srgbClr val="D6293F"/>
                </a:solidFill>
                <a:latin typeface="IBM Plex Sans" pitchFamily="34" charset="0"/>
                <a:ea typeface="IBM Plex Sans" pitchFamily="34" charset="-122"/>
                <a:cs typeface="IBM Plex Sans" pitchFamily="34" charset="-120"/>
              </a:rPr>
              <a:t>DELIVERABLE</a:t>
            </a:r>
            <a:endParaRPr lang="en-US" sz="1400" dirty="0"/>
          </a:p>
        </p:txBody>
      </p:sp>
      <p:sp>
        <p:nvSpPr>
          <p:cNvPr id="19" name="Text 11"/>
          <p:cNvSpPr/>
          <p:nvPr/>
        </p:nvSpPr>
        <p:spPr>
          <a:xfrm>
            <a:off x="7105104" y="2235101"/>
            <a:ext cx="4186482" cy="891381"/>
          </a:xfrm>
          <a:prstGeom prst="rect">
            <a:avLst/>
          </a:prstGeom>
          <a:noFill/>
          <a:ln/>
        </p:spPr>
        <p:txBody>
          <a:bodyPr wrap="square" lIns="0" tIns="0" rIns="0" bIns="0" rtlCol="0" anchor="t">
            <a:normAutofit/>
          </a:bodyPr>
          <a:lstStyle/>
          <a:p>
            <a:pPr marL="167640" indent="-148082" algn="l">
              <a:lnSpc>
                <a:spcPts val="1705"/>
              </a:lnSpc>
              <a:buSzPct val="100000"/>
              <a:buChar char="•"/>
            </a:pPr>
            <a:r>
              <a:rPr lang="en-US" sz="1400" dirty="0">
                <a:solidFill>
                  <a:srgbClr val="4A4F57"/>
                </a:solidFill>
                <a:latin typeface="IBM Plex Sans" pitchFamily="34" charset="0"/>
                <a:ea typeface="IBM Plex Sans" pitchFamily="34" charset="-122"/>
                <a:cs typeface="IBM Plex Sans" pitchFamily="34" charset="-120"/>
              </a:rPr>
              <a:t>IAM pilot live, one region</a:t>
            </a:r>
            <a:endParaRPr lang="en-US" sz="1400" dirty="0"/>
          </a:p>
          <a:p>
            <a:pPr marL="167640" indent="-148082" algn="l">
              <a:lnSpc>
                <a:spcPts val="1705"/>
              </a:lnSpc>
              <a:buSzPct val="100000"/>
              <a:buChar char="•"/>
            </a:pPr>
            <a:r>
              <a:rPr lang="en-US" sz="1400" dirty="0">
                <a:solidFill>
                  <a:srgbClr val="4A4F57"/>
                </a:solidFill>
                <a:latin typeface="IBM Plex Sans" pitchFamily="34" charset="0"/>
                <a:ea typeface="IBM Plex Sans" pitchFamily="34" charset="-122"/>
                <a:cs typeface="IBM Plex Sans" pitchFamily="34" charset="-120"/>
              </a:rPr>
              <a:t>In-context curation, usage-ranked answers</a:t>
            </a:r>
            <a:endParaRPr lang="en-US" sz="1400" dirty="0"/>
          </a:p>
          <a:p>
            <a:pPr marL="167640" indent="-148082" algn="l">
              <a:lnSpc>
                <a:spcPts val="1705"/>
              </a:lnSpc>
              <a:buSzPct val="100000"/>
              <a:buChar char="•"/>
            </a:pPr>
            <a:r>
              <a:rPr lang="en-US" sz="1400" dirty="0">
                <a:solidFill>
                  <a:srgbClr val="4A4F57"/>
                </a:solidFill>
                <a:latin typeface="IBM Plex Sans" pitchFamily="34" charset="0"/>
                <a:ea typeface="IBM Plex Sans" pitchFamily="34" charset="-122"/>
                <a:cs typeface="IBM Plex Sans" pitchFamily="34" charset="-120"/>
              </a:rPr>
              <a:t>Governed KB contribution workflow</a:t>
            </a:r>
            <a:endParaRPr lang="en-US" sz="1400" dirty="0"/>
          </a:p>
          <a:p>
            <a:pPr marL="167640" indent="-148082" algn="l">
              <a:lnSpc>
                <a:spcPts val="1705"/>
              </a:lnSpc>
              <a:buSzPct val="100000"/>
              <a:buChar char="•"/>
            </a:pPr>
            <a:r>
              <a:rPr lang="en-US" sz="1400" dirty="0">
                <a:solidFill>
                  <a:srgbClr val="4A4F57"/>
                </a:solidFill>
                <a:latin typeface="IBM Plex Sans" pitchFamily="34" charset="0"/>
                <a:ea typeface="IBM Plex Sans" pitchFamily="34" charset="-122"/>
                <a:cs typeface="IBM Plex Sans" pitchFamily="34" charset="-120"/>
              </a:rPr>
              <a:t>Sharper scoring &amp; auto allocation</a:t>
            </a:r>
            <a:endParaRPr lang="en-US" sz="1400" dirty="0"/>
          </a:p>
        </p:txBody>
      </p:sp>
      <p:sp>
        <p:nvSpPr>
          <p:cNvPr id="20" name="Shape 12"/>
          <p:cNvSpPr/>
          <p:nvPr/>
        </p:nvSpPr>
        <p:spPr>
          <a:xfrm>
            <a:off x="6898729" y="3853755"/>
            <a:ext cx="4477296" cy="1985070"/>
          </a:xfrm>
          <a:prstGeom prst="roundRect">
            <a:avLst>
              <a:gd name="adj" fmla="val 6238"/>
            </a:avLst>
          </a:prstGeom>
          <a:solidFill>
            <a:srgbClr val="EFEBE4"/>
          </a:solidFill>
          <a:ln w="6350">
            <a:solidFill>
              <a:srgbClr val="E2DED5"/>
            </a:solidFill>
            <a:prstDash val="solid"/>
          </a:ln>
        </p:spPr>
        <p:txBody>
          <a:bodyPr/>
          <a:lstStyle/>
          <a:p>
            <a:endParaRPr lang="es-CO"/>
          </a:p>
        </p:txBody>
      </p:sp>
      <p:sp>
        <p:nvSpPr>
          <p:cNvPr id="21" name="Text 13"/>
          <p:cNvSpPr/>
          <p:nvPr/>
        </p:nvSpPr>
        <p:spPr>
          <a:xfrm>
            <a:off x="7105104" y="4060130"/>
            <a:ext cx="4186482" cy="229840"/>
          </a:xfrm>
          <a:prstGeom prst="rect">
            <a:avLst/>
          </a:prstGeom>
          <a:noFill/>
          <a:ln/>
        </p:spPr>
        <p:txBody>
          <a:bodyPr wrap="square" lIns="0" tIns="0" rIns="0" bIns="0" rtlCol="0" anchor="t">
            <a:normAutofit/>
          </a:bodyPr>
          <a:lstStyle/>
          <a:p>
            <a:pPr marL="0" indent="0" algn="l">
              <a:lnSpc>
                <a:spcPts val="1610"/>
              </a:lnSpc>
              <a:buNone/>
            </a:pPr>
            <a:r>
              <a:rPr lang="en-US" sz="1400" b="1" kern="0" spc="100" dirty="0">
                <a:solidFill>
                  <a:srgbClr val="9A9FA8"/>
                </a:solidFill>
                <a:latin typeface="IBM Plex Sans" pitchFamily="34" charset="0"/>
                <a:ea typeface="IBM Plex Sans" pitchFamily="34" charset="-122"/>
                <a:cs typeface="IBM Plex Sans" pitchFamily="34" charset="-120"/>
              </a:rPr>
              <a:t>LIMITATIONS</a:t>
            </a:r>
            <a:endParaRPr lang="en-US" sz="1400" dirty="0"/>
          </a:p>
        </p:txBody>
      </p:sp>
      <p:sp>
        <p:nvSpPr>
          <p:cNvPr id="22" name="Text 14"/>
          <p:cNvSpPr/>
          <p:nvPr/>
        </p:nvSpPr>
        <p:spPr>
          <a:xfrm>
            <a:off x="7105104" y="4353471"/>
            <a:ext cx="4186482" cy="674886"/>
          </a:xfrm>
          <a:prstGeom prst="rect">
            <a:avLst/>
          </a:prstGeom>
          <a:noFill/>
          <a:ln/>
        </p:spPr>
        <p:txBody>
          <a:bodyPr wrap="square" lIns="0" tIns="0" rIns="0" bIns="0" rtlCol="0" anchor="t">
            <a:normAutofit/>
          </a:bodyPr>
          <a:lstStyle/>
          <a:p>
            <a:pPr marL="167640" indent="-148082" algn="l">
              <a:lnSpc>
                <a:spcPts val="1705"/>
              </a:lnSpc>
              <a:buSzPct val="100000"/>
              <a:buChar char="•"/>
            </a:pPr>
            <a:r>
              <a:rPr lang="en-US" sz="1400" dirty="0">
                <a:solidFill>
                  <a:srgbClr val="8A8F98"/>
                </a:solidFill>
                <a:latin typeface="IBM Plex Sans" pitchFamily="34" charset="0"/>
                <a:ea typeface="IBM Plex Sans" pitchFamily="34" charset="-122"/>
                <a:cs typeface="IBM Plex Sans" pitchFamily="34" charset="-120"/>
              </a:rPr>
              <a:t>RFP meetings &amp; workshops</a:t>
            </a:r>
            <a:endParaRPr lang="en-US" sz="1400" dirty="0"/>
          </a:p>
          <a:p>
            <a:pPr marL="167640" indent="-148082" algn="l">
              <a:lnSpc>
                <a:spcPts val="1705"/>
              </a:lnSpc>
              <a:buSzPct val="100000"/>
              <a:buChar char="•"/>
            </a:pPr>
            <a:r>
              <a:rPr lang="en-US" sz="1400" dirty="0">
                <a:solidFill>
                  <a:srgbClr val="8A8F98"/>
                </a:solidFill>
                <a:latin typeface="IBM Plex Sans" pitchFamily="34" charset="0"/>
                <a:ea typeface="IBM Plex Sans" pitchFamily="34" charset="-122"/>
                <a:cs typeface="IBM Plex Sans" pitchFamily="34" charset="-120"/>
              </a:rPr>
              <a:t>Presentation prep &amp; partner logistics</a:t>
            </a:r>
            <a:endParaRPr lang="en-US" sz="1400" dirty="0"/>
          </a:p>
          <a:p>
            <a:pPr marL="167640" indent="-148082" algn="l">
              <a:lnSpc>
                <a:spcPts val="1705"/>
              </a:lnSpc>
              <a:buSzPct val="100000"/>
              <a:buChar char="•"/>
            </a:pPr>
            <a:r>
              <a:rPr lang="en-US" sz="1400" dirty="0">
                <a:solidFill>
                  <a:srgbClr val="8A8F98"/>
                </a:solidFill>
                <a:latin typeface="IBM Plex Sans" pitchFamily="34" charset="0"/>
                <a:ea typeface="IBM Plex Sans" pitchFamily="34" charset="-122"/>
                <a:cs typeface="IBM Plex Sans" pitchFamily="34" charset="-120"/>
              </a:rPr>
              <a:t>IAM limited to the pilot region</a:t>
            </a:r>
            <a:endParaRPr lang="en-US" sz="1400" dirty="0"/>
          </a:p>
        </p:txBody>
      </p:sp>
      <p:sp>
        <p:nvSpPr>
          <p:cNvPr id="23" name="Text 15"/>
          <p:cNvSpPr/>
          <p:nvPr/>
        </p:nvSpPr>
        <p:spPr>
          <a:xfrm>
            <a:off x="812800" y="6238280"/>
            <a:ext cx="461580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F98"/>
                </a:solidFill>
                <a:latin typeface="IBM Plex Sans" pitchFamily="34" charset="0"/>
                <a:ea typeface="IBM Plex Sans" pitchFamily="34" charset="-122"/>
                <a:cs typeface="IBM Plex Sans" pitchFamily="34" charset="-120"/>
              </a:rPr>
              <a:t>Sebastian Rojas Díaz — CoE RFP Manager, Candidate Presentation</a:t>
            </a:r>
            <a:endParaRPr lang="en-US" sz="1200" dirty="0"/>
          </a:p>
        </p:txBody>
      </p:sp>
      <p:sp>
        <p:nvSpPr>
          <p:cNvPr id="24" name="Text 16"/>
          <p:cNvSpPr/>
          <p:nvPr/>
        </p:nvSpPr>
        <p:spPr>
          <a:xfrm>
            <a:off x="9376817" y="6238280"/>
            <a:ext cx="2062455" cy="23872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8A8F98"/>
                </a:solidFill>
                <a:latin typeface="IBM Plex Sans" pitchFamily="34" charset="0"/>
                <a:ea typeface="IBM Plex Sans" pitchFamily="34" charset="-122"/>
                <a:cs typeface="IBM Plex Sans" pitchFamily="34" charset="-120"/>
              </a:rPr>
              <a:t>PART A — 30 / 90 / 180 PLAN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D6293F"/>
                </a:solidFill>
                <a:latin typeface="IBM Plex Sans" pitchFamily="34" charset="0"/>
                <a:ea typeface="IBM Plex Sans" pitchFamily="34" charset="-122"/>
                <a:cs typeface="IBM Plex Sans" pitchFamily="34" charset="-120"/>
              </a:rPr>
              <a:t>PART A — THE PLAN</a:t>
            </a:r>
            <a:endParaRPr lang="en-US" sz="1200" dirty="0"/>
          </a:p>
        </p:txBody>
      </p:sp>
      <p:sp>
        <p:nvSpPr>
          <p:cNvPr id="3" name="Text 1"/>
          <p:cNvSpPr/>
          <p:nvPr/>
        </p:nvSpPr>
        <p:spPr>
          <a:xfrm>
            <a:off x="812800" y="1229320"/>
            <a:ext cx="10883392" cy="419695"/>
          </a:xfrm>
          <a:prstGeom prst="rect">
            <a:avLst/>
          </a:prstGeom>
          <a:noFill/>
          <a:ln/>
        </p:spPr>
        <p:txBody>
          <a:bodyPr wrap="square" lIns="0" tIns="0" rIns="0" bIns="0" rtlCol="0" anchor="t">
            <a:normAutofit/>
          </a:bodyPr>
          <a:lstStyle/>
          <a:p>
            <a:pPr marL="0" indent="0" algn="l">
              <a:lnSpc>
                <a:spcPts val="3105"/>
              </a:lnSpc>
              <a:buNone/>
            </a:pPr>
            <a:r>
              <a:rPr lang="en-US" sz="2700" b="1" dirty="0">
                <a:solidFill>
                  <a:srgbClr val="1B1B1F"/>
                </a:solidFill>
                <a:latin typeface="Space Grotesk" pitchFamily="34" charset="0"/>
                <a:ea typeface="Space Grotesk" pitchFamily="34" charset="-122"/>
                <a:cs typeface="Space Grotesk" pitchFamily="34" charset="-120"/>
              </a:rPr>
              <a:t>What to own, and how I'll know it's working</a:t>
            </a:r>
            <a:endParaRPr lang="en-US" sz="2700" dirty="0"/>
          </a:p>
        </p:txBody>
      </p:sp>
      <p:grpSp>
        <p:nvGrpSpPr>
          <p:cNvPr id="14" name="Group 13">
            <a:extLst>
              <a:ext uri="{FF2B5EF4-FFF2-40B4-BE49-F238E27FC236}">
                <a16:creationId xmlns:a16="http://schemas.microsoft.com/office/drawing/2014/main" id="{EB8CC959-DE88-C4EE-ED53-8EDBCAED2032}"/>
              </a:ext>
            </a:extLst>
          </p:cNvPr>
          <p:cNvGrpSpPr/>
          <p:nvPr/>
        </p:nvGrpSpPr>
        <p:grpSpPr>
          <a:xfrm>
            <a:off x="6229350" y="1829991"/>
            <a:ext cx="5149850" cy="4008834"/>
            <a:chOff x="815975" y="1829991"/>
            <a:chExt cx="5149850" cy="4008834"/>
          </a:xfrm>
        </p:grpSpPr>
        <p:sp>
          <p:nvSpPr>
            <p:cNvPr id="4" name="Shape 2"/>
            <p:cNvSpPr/>
            <p:nvPr/>
          </p:nvSpPr>
          <p:spPr>
            <a:xfrm>
              <a:off x="815975" y="1829991"/>
              <a:ext cx="5149850" cy="4008834"/>
            </a:xfrm>
            <a:prstGeom prst="roundRect">
              <a:avLst>
                <a:gd name="adj" fmla="val 3089"/>
              </a:avLst>
            </a:prstGeom>
            <a:solidFill>
              <a:srgbClr val="FFFFFF"/>
            </a:solidFill>
            <a:ln w="6350">
              <a:solidFill>
                <a:srgbClr val="E4E2DD"/>
              </a:solidFill>
              <a:prstDash val="solid"/>
            </a:ln>
          </p:spPr>
          <p:txBody>
            <a:bodyPr/>
            <a:lstStyle/>
            <a:p>
              <a:endParaRPr lang="es-CO" sz="2000"/>
            </a:p>
          </p:txBody>
        </p:sp>
        <p:sp>
          <p:nvSpPr>
            <p:cNvPr id="5" name="Text 3"/>
            <p:cNvSpPr/>
            <p:nvPr/>
          </p:nvSpPr>
          <p:spPr>
            <a:xfrm>
              <a:off x="1098550" y="2112566"/>
              <a:ext cx="4722241" cy="246360"/>
            </a:xfrm>
            <a:prstGeom prst="rect">
              <a:avLst/>
            </a:prstGeom>
            <a:noFill/>
            <a:ln/>
          </p:spPr>
          <p:txBody>
            <a:bodyPr wrap="square" lIns="0" tIns="0" rIns="0" bIns="0" rtlCol="0" anchor="t">
              <a:normAutofit/>
            </a:bodyPr>
            <a:lstStyle/>
            <a:p>
              <a:pPr marL="0" indent="0" algn="l">
                <a:lnSpc>
                  <a:spcPts val="1740"/>
                </a:lnSpc>
                <a:buNone/>
              </a:pPr>
              <a:r>
                <a:rPr lang="en-US" sz="1600" b="1" dirty="0">
                  <a:solidFill>
                    <a:srgbClr val="1B1B1F"/>
                  </a:solidFill>
                  <a:latin typeface="IBM Plex Sans" pitchFamily="34" charset="0"/>
                  <a:ea typeface="IBM Plex Sans" pitchFamily="34" charset="-122"/>
                  <a:cs typeface="IBM Plex Sans" pitchFamily="34" charset="-120"/>
                </a:rPr>
                <a:t>Out of scope, by design</a:t>
              </a:r>
              <a:endParaRPr lang="en-US" sz="1600" dirty="0"/>
            </a:p>
          </p:txBody>
        </p:sp>
        <p:sp>
          <p:nvSpPr>
            <p:cNvPr id="6" name="Text 4"/>
            <p:cNvSpPr/>
            <p:nvPr/>
          </p:nvSpPr>
          <p:spPr>
            <a:xfrm>
              <a:off x="1098550" y="2447826"/>
              <a:ext cx="4722241" cy="1216025"/>
            </a:xfrm>
            <a:prstGeom prst="rect">
              <a:avLst/>
            </a:prstGeom>
            <a:noFill/>
            <a:ln/>
          </p:spPr>
          <p:txBody>
            <a:bodyPr wrap="square" lIns="0" tIns="0" rIns="0" bIns="0" rtlCol="0" anchor="t">
              <a:normAutofit/>
            </a:bodyPr>
            <a:lstStyle/>
            <a:p>
              <a:pPr marL="190500" indent="-161925" algn="l">
                <a:lnSpc>
                  <a:spcPts val="1875"/>
                </a:lnSpc>
                <a:buSzPct val="100000"/>
                <a:buChar char="•"/>
              </a:pPr>
              <a:r>
                <a:rPr lang="en-US" sz="1400" dirty="0">
                  <a:solidFill>
                    <a:srgbClr val="4A4F57"/>
                  </a:solidFill>
                  <a:latin typeface="IBM Plex Sans" pitchFamily="34" charset="0"/>
                  <a:ea typeface="IBM Plex Sans" pitchFamily="34" charset="-122"/>
                  <a:cs typeface="IBM Plex Sans" pitchFamily="34" charset="-120"/>
                </a:rPr>
                <a:t>RFP-specific meetings &amp; workshops</a:t>
              </a:r>
              <a:endParaRPr lang="en-US" sz="1400" dirty="0"/>
            </a:p>
            <a:p>
              <a:pPr marL="190500" indent="-161925" algn="l">
                <a:lnSpc>
                  <a:spcPts val="1875"/>
                </a:lnSpc>
                <a:buSzPct val="100000"/>
                <a:buChar char="•"/>
              </a:pPr>
              <a:r>
                <a:rPr lang="en-US" sz="1400" dirty="0">
                  <a:solidFill>
                    <a:srgbClr val="4A4F57"/>
                  </a:solidFill>
                  <a:latin typeface="IBM Plex Sans" pitchFamily="34" charset="0"/>
                  <a:ea typeface="IBM Plex Sans" pitchFamily="34" charset="-122"/>
                  <a:cs typeface="IBM Plex Sans" pitchFamily="34" charset="-120"/>
                </a:rPr>
                <a:t>Live presentation and demo prep</a:t>
              </a:r>
              <a:endParaRPr lang="en-US" sz="1400" dirty="0"/>
            </a:p>
            <a:p>
              <a:pPr marL="190500" indent="-161925" algn="l">
                <a:lnSpc>
                  <a:spcPts val="1875"/>
                </a:lnSpc>
                <a:buSzPct val="100000"/>
                <a:buChar char="•"/>
              </a:pPr>
              <a:r>
                <a:rPr lang="en-US" sz="1400" dirty="0">
                  <a:solidFill>
                    <a:srgbClr val="4A4F57"/>
                  </a:solidFill>
                  <a:latin typeface="IBM Plex Sans" pitchFamily="34" charset="0"/>
                  <a:ea typeface="IBM Plex Sans" pitchFamily="34" charset="-122"/>
                  <a:cs typeface="IBM Plex Sans" pitchFamily="34" charset="-120"/>
                </a:rPr>
                <a:t>Partner collaboration logistics</a:t>
              </a:r>
              <a:endParaRPr lang="en-US" sz="1400" dirty="0"/>
            </a:p>
            <a:p>
              <a:pPr marL="190500" indent="-161925" algn="l">
                <a:lnSpc>
                  <a:spcPts val="1875"/>
                </a:lnSpc>
                <a:buSzPct val="100000"/>
                <a:buChar char="•"/>
              </a:pPr>
              <a:r>
                <a:rPr lang="en-US" sz="1400" dirty="0">
                  <a:solidFill>
                    <a:srgbClr val="4A4F57"/>
                  </a:solidFill>
                  <a:latin typeface="IBM Plex Sans" pitchFamily="34" charset="0"/>
                  <a:ea typeface="IBM Plex Sans" pitchFamily="34" charset="-122"/>
                  <a:cs typeface="IBM Plex Sans" pitchFamily="34" charset="-120"/>
                </a:rPr>
                <a:t>Final legal wording &amp; commercial terms — stay with legal and sales</a:t>
              </a:r>
              <a:endParaRPr lang="en-US" sz="1400" dirty="0"/>
            </a:p>
          </p:txBody>
        </p:sp>
        <p:sp>
          <p:nvSpPr>
            <p:cNvPr id="7" name="Text 5"/>
            <p:cNvSpPr/>
            <p:nvPr/>
          </p:nvSpPr>
          <p:spPr>
            <a:xfrm>
              <a:off x="1098549" y="4321189"/>
              <a:ext cx="4722241" cy="434280"/>
            </a:xfrm>
            <a:prstGeom prst="rect">
              <a:avLst/>
            </a:prstGeom>
            <a:noFill/>
            <a:ln/>
          </p:spPr>
          <p:txBody>
            <a:bodyPr wrap="square" lIns="0" tIns="0" rIns="0" bIns="0" rtlCol="0" anchor="t">
              <a:normAutofit/>
            </a:bodyPr>
            <a:lstStyle/>
            <a:p>
              <a:pPr marL="0" indent="0" algn="l">
                <a:lnSpc>
                  <a:spcPts val="1610"/>
                </a:lnSpc>
                <a:buNone/>
              </a:pPr>
              <a:r>
                <a:rPr lang="en-US" sz="1200" dirty="0">
                  <a:solidFill>
                    <a:srgbClr val="8A8F98"/>
                  </a:solidFill>
                  <a:latin typeface="IBM Plex Sans" pitchFamily="34" charset="0"/>
                  <a:ea typeface="IBM Plex Sans" pitchFamily="34" charset="-122"/>
                  <a:cs typeface="IBM Plex Sans" pitchFamily="34" charset="-120"/>
                </a:rPr>
                <a:t>The function accelerates the response. It doesn't replace the deal team.</a:t>
              </a:r>
              <a:endParaRPr lang="en-US" sz="1200" dirty="0"/>
            </a:p>
          </p:txBody>
        </p:sp>
      </p:grpSp>
      <p:sp>
        <p:nvSpPr>
          <p:cNvPr id="12" name="Text 10"/>
          <p:cNvSpPr/>
          <p:nvPr/>
        </p:nvSpPr>
        <p:spPr>
          <a:xfrm>
            <a:off x="812800" y="6238280"/>
            <a:ext cx="461580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F98"/>
                </a:solidFill>
                <a:latin typeface="IBM Plex Sans" pitchFamily="34" charset="0"/>
                <a:ea typeface="IBM Plex Sans" pitchFamily="34" charset="-122"/>
                <a:cs typeface="IBM Plex Sans" pitchFamily="34" charset="-120"/>
              </a:rPr>
              <a:t>Sebastian Rojas Díaz — CoE RFP Manager, Candidate Presentation</a:t>
            </a:r>
            <a:endParaRPr lang="en-US" sz="1200" dirty="0"/>
          </a:p>
        </p:txBody>
      </p:sp>
      <p:sp>
        <p:nvSpPr>
          <p:cNvPr id="13" name="Text 11"/>
          <p:cNvSpPr/>
          <p:nvPr/>
        </p:nvSpPr>
        <p:spPr>
          <a:xfrm>
            <a:off x="9376817" y="6238280"/>
            <a:ext cx="2062455" cy="23872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8A8F98"/>
                </a:solidFill>
                <a:latin typeface="IBM Plex Sans" pitchFamily="34" charset="0"/>
                <a:ea typeface="IBM Plex Sans" pitchFamily="34" charset="-122"/>
                <a:cs typeface="IBM Plex Sans" pitchFamily="34" charset="-120"/>
              </a:rPr>
              <a:t>PART A — 30 / 90 / 180 PLAN</a:t>
            </a:r>
            <a:endParaRPr lang="en-US" sz="1200" dirty="0"/>
          </a:p>
        </p:txBody>
      </p:sp>
      <p:grpSp>
        <p:nvGrpSpPr>
          <p:cNvPr id="16" name="Group 15">
            <a:extLst>
              <a:ext uri="{FF2B5EF4-FFF2-40B4-BE49-F238E27FC236}">
                <a16:creationId xmlns:a16="http://schemas.microsoft.com/office/drawing/2014/main" id="{44695B95-1FFA-F7F5-FB35-95444712900D}"/>
              </a:ext>
            </a:extLst>
          </p:cNvPr>
          <p:cNvGrpSpPr/>
          <p:nvPr/>
        </p:nvGrpSpPr>
        <p:grpSpPr>
          <a:xfrm>
            <a:off x="812800" y="1826815"/>
            <a:ext cx="5149850" cy="4008834"/>
            <a:chOff x="6226175" y="1829991"/>
            <a:chExt cx="5149850" cy="4008834"/>
          </a:xfrm>
        </p:grpSpPr>
        <p:sp>
          <p:nvSpPr>
            <p:cNvPr id="17" name="Shape 6"/>
            <p:cNvSpPr/>
            <p:nvPr/>
          </p:nvSpPr>
          <p:spPr>
            <a:xfrm>
              <a:off x="6226175" y="1829991"/>
              <a:ext cx="5149850" cy="4008834"/>
            </a:xfrm>
            <a:prstGeom prst="roundRect">
              <a:avLst>
                <a:gd name="adj" fmla="val 3089"/>
              </a:avLst>
            </a:prstGeom>
            <a:solidFill>
              <a:srgbClr val="FFFFFF"/>
            </a:solidFill>
            <a:ln w="6350">
              <a:solidFill>
                <a:srgbClr val="E4E2DD"/>
              </a:solidFill>
              <a:prstDash val="solid"/>
            </a:ln>
          </p:spPr>
          <p:txBody>
            <a:bodyPr/>
            <a:lstStyle/>
            <a:p>
              <a:endParaRPr lang="es-CO" sz="2400"/>
            </a:p>
          </p:txBody>
        </p:sp>
        <p:sp>
          <p:nvSpPr>
            <p:cNvPr id="18" name="Text 7"/>
            <p:cNvSpPr/>
            <p:nvPr/>
          </p:nvSpPr>
          <p:spPr>
            <a:xfrm>
              <a:off x="6508750" y="2112566"/>
              <a:ext cx="4722241" cy="246360"/>
            </a:xfrm>
            <a:prstGeom prst="rect">
              <a:avLst/>
            </a:prstGeom>
            <a:noFill/>
            <a:ln/>
          </p:spPr>
          <p:txBody>
            <a:bodyPr wrap="square" lIns="0" tIns="0" rIns="0" bIns="0" rtlCol="0" anchor="t">
              <a:normAutofit/>
            </a:bodyPr>
            <a:lstStyle/>
            <a:p>
              <a:pPr marL="0" indent="0" algn="l">
                <a:lnSpc>
                  <a:spcPts val="1740"/>
                </a:lnSpc>
                <a:buNone/>
              </a:pPr>
              <a:r>
                <a:rPr lang="en-US" sz="1600" b="1" dirty="0">
                  <a:solidFill>
                    <a:srgbClr val="1B1B1F"/>
                  </a:solidFill>
                  <a:latin typeface="IBM Plex Sans" pitchFamily="34" charset="0"/>
                  <a:ea typeface="IBM Plex Sans" pitchFamily="34" charset="-122"/>
                  <a:cs typeface="IBM Plex Sans" pitchFamily="34" charset="-120"/>
                </a:rPr>
                <a:t>Success, measured from day one</a:t>
              </a:r>
              <a:endParaRPr lang="en-US" sz="1600" dirty="0"/>
            </a:p>
          </p:txBody>
        </p:sp>
        <p:sp>
          <p:nvSpPr>
            <p:cNvPr id="19" name="Text 8"/>
            <p:cNvSpPr/>
            <p:nvPr/>
          </p:nvSpPr>
          <p:spPr>
            <a:xfrm>
              <a:off x="6508750" y="2447826"/>
              <a:ext cx="4722241" cy="1454150"/>
            </a:xfrm>
            <a:prstGeom prst="rect">
              <a:avLst/>
            </a:prstGeom>
            <a:noFill/>
            <a:ln/>
          </p:spPr>
          <p:txBody>
            <a:bodyPr wrap="square" lIns="0" tIns="0" rIns="0" bIns="0" rtlCol="0" anchor="t">
              <a:normAutofit/>
            </a:bodyPr>
            <a:lstStyle/>
            <a:p>
              <a:pPr marL="190500" indent="-161925" algn="l">
                <a:lnSpc>
                  <a:spcPts val="1875"/>
                </a:lnSpc>
                <a:buSzPct val="100000"/>
                <a:buChar char="•"/>
              </a:pPr>
              <a:r>
                <a:rPr lang="en-US" sz="1400" dirty="0">
                  <a:solidFill>
                    <a:srgbClr val="4A4F57"/>
                  </a:solidFill>
                  <a:latin typeface="IBM Plex Sans" pitchFamily="34" charset="0"/>
                  <a:ea typeface="IBM Plex Sans" pitchFamily="34" charset="-122"/>
                  <a:cs typeface="IBM Plex Sans" pitchFamily="34" charset="-120"/>
                </a:rPr>
                <a:t>Time to first draft, per RFP</a:t>
              </a:r>
              <a:endParaRPr lang="en-US" sz="1400" dirty="0"/>
            </a:p>
            <a:p>
              <a:pPr marL="190500" indent="-161925" algn="l">
                <a:lnSpc>
                  <a:spcPts val="1875"/>
                </a:lnSpc>
                <a:buSzPct val="100000"/>
                <a:buChar char="•"/>
              </a:pPr>
              <a:r>
                <a:rPr lang="en-US" sz="1400" dirty="0">
                  <a:solidFill>
                    <a:srgbClr val="4A4F57"/>
                  </a:solidFill>
                  <a:latin typeface="IBM Plex Sans" pitchFamily="34" charset="0"/>
                  <a:ea typeface="IBM Plex Sans" pitchFamily="34" charset="-122"/>
                  <a:cs typeface="IBM Plex Sans" pitchFamily="34" charset="-120"/>
                </a:rPr>
                <a:t>Share of answers sourced from the KB vs. written from scratch</a:t>
              </a:r>
              <a:endParaRPr lang="en-US" sz="1400" dirty="0"/>
            </a:p>
            <a:p>
              <a:pPr marL="190500" indent="-161925" algn="l">
                <a:lnSpc>
                  <a:spcPts val="1875"/>
                </a:lnSpc>
                <a:buSzPct val="100000"/>
                <a:buChar char="•"/>
              </a:pPr>
              <a:r>
                <a:rPr lang="en-US" sz="1400" dirty="0">
                  <a:solidFill>
                    <a:srgbClr val="4A4F57"/>
                  </a:solidFill>
                  <a:latin typeface="IBM Plex Sans" pitchFamily="34" charset="0"/>
                  <a:ea typeface="IBM Plex Sans" pitchFamily="34" charset="-122"/>
                  <a:cs typeface="IBM Plex Sans" pitchFamily="34" charset="-120"/>
                </a:rPr>
                <a:t>SE adoption — who's using it, how often</a:t>
              </a:r>
              <a:endParaRPr lang="en-US" sz="1400" dirty="0"/>
            </a:p>
            <a:p>
              <a:pPr marL="190500" indent="-161925" algn="l">
                <a:lnSpc>
                  <a:spcPts val="1875"/>
                </a:lnSpc>
                <a:buSzPct val="100000"/>
                <a:buChar char="•"/>
              </a:pPr>
              <a:r>
                <a:rPr lang="en-US" sz="1400" dirty="0">
                  <a:solidFill>
                    <a:srgbClr val="4A4F57"/>
                  </a:solidFill>
                  <a:latin typeface="IBM Plex Sans" pitchFamily="34" charset="0"/>
                  <a:ea typeface="IBM Plex Sans" pitchFamily="34" charset="-122"/>
                  <a:cs typeface="IBM Plex Sans" pitchFamily="34" charset="-120"/>
                </a:rPr>
                <a:t>Win rate: supported bids vs. unsupported</a:t>
              </a:r>
              <a:endParaRPr lang="en-US" sz="1400" dirty="0"/>
            </a:p>
            <a:p>
              <a:pPr marL="190500" indent="-161925" algn="l">
                <a:lnSpc>
                  <a:spcPts val="1875"/>
                </a:lnSpc>
                <a:buSzPct val="100000"/>
                <a:buChar char="•"/>
              </a:pPr>
              <a:r>
                <a:rPr lang="en-US" sz="1400" dirty="0">
                  <a:solidFill>
                    <a:srgbClr val="4A4F57"/>
                  </a:solidFill>
                  <a:latin typeface="IBM Plex Sans" pitchFamily="34" charset="0"/>
                  <a:ea typeface="IBM Plex Sans" pitchFamily="34" charset="-122"/>
                  <a:cs typeface="IBM Plex Sans" pitchFamily="34" charset="-120"/>
                </a:rPr>
                <a:t>KB coverage and freshness</a:t>
              </a:r>
              <a:endParaRPr lang="en-US" sz="1400" dirty="0"/>
            </a:p>
          </p:txBody>
        </p:sp>
        <p:sp>
          <p:nvSpPr>
            <p:cNvPr id="20" name="Text 9"/>
            <p:cNvSpPr/>
            <p:nvPr/>
          </p:nvSpPr>
          <p:spPr>
            <a:xfrm>
              <a:off x="6508750" y="4322890"/>
              <a:ext cx="4722241" cy="434280"/>
            </a:xfrm>
            <a:prstGeom prst="rect">
              <a:avLst/>
            </a:prstGeom>
            <a:noFill/>
            <a:ln/>
          </p:spPr>
          <p:txBody>
            <a:bodyPr wrap="square" lIns="0" tIns="0" rIns="0" bIns="0" rtlCol="0" anchor="t">
              <a:normAutofit/>
            </a:bodyPr>
            <a:lstStyle/>
            <a:p>
              <a:pPr marL="0" indent="0" algn="l">
                <a:lnSpc>
                  <a:spcPts val="1610"/>
                </a:lnSpc>
                <a:buNone/>
              </a:pPr>
              <a:r>
                <a:rPr lang="en-US" sz="1200" dirty="0">
                  <a:solidFill>
                    <a:srgbClr val="8A8F98"/>
                  </a:solidFill>
                  <a:latin typeface="IBM Plex Sans" pitchFamily="34" charset="0"/>
                  <a:ea typeface="IBM Plex Sans" pitchFamily="34" charset="-122"/>
                  <a:cs typeface="IBM Plex Sans" pitchFamily="34" charset="-120"/>
                </a:rPr>
                <a:t>First 30 days: audit last quarter's RFPs to build the baseline</a:t>
              </a:r>
              <a:endParaRPr lang="en-US" sz="1200" dirty="0"/>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1B1F"/>
        </a:solidFill>
        <a:effectLst/>
      </p:bgPr>
    </p:bg>
    <p:spTree>
      <p:nvGrpSpPr>
        <p:cNvPr id="1" name=""/>
        <p:cNvGrpSpPr/>
        <p:nvPr/>
      </p:nvGrpSpPr>
      <p:grpSpPr>
        <a:xfrm>
          <a:off x="0" y="0"/>
          <a:ext cx="0" cy="0"/>
          <a:chOff x="0" y="0"/>
          <a:chExt cx="0" cy="0"/>
        </a:xfrm>
      </p:grpSpPr>
      <p:sp>
        <p:nvSpPr>
          <p:cNvPr id="2" name="Text 0"/>
          <p:cNvSpPr/>
          <p:nvPr/>
        </p:nvSpPr>
        <p:spPr>
          <a:xfrm>
            <a:off x="812800" y="2241848"/>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FF6B81"/>
                </a:solidFill>
                <a:latin typeface="IBM Plex Sans" pitchFamily="34" charset="0"/>
                <a:ea typeface="IBM Plex Sans" pitchFamily="34" charset="-122"/>
                <a:cs typeface="IBM Plex Sans" pitchFamily="34" charset="-120"/>
              </a:rPr>
              <a:t>PART B — LIVE PROTOTYPE</a:t>
            </a:r>
            <a:endParaRPr lang="en-US" sz="1300" dirty="0"/>
          </a:p>
        </p:txBody>
      </p:sp>
      <p:sp>
        <p:nvSpPr>
          <p:cNvPr id="3" name="Text 1"/>
          <p:cNvSpPr/>
          <p:nvPr/>
        </p:nvSpPr>
        <p:spPr>
          <a:xfrm>
            <a:off x="812800" y="2676178"/>
            <a:ext cx="10883392" cy="738584"/>
          </a:xfrm>
          <a:prstGeom prst="rect">
            <a:avLst/>
          </a:prstGeom>
          <a:noFill/>
          <a:ln/>
        </p:spPr>
        <p:txBody>
          <a:bodyPr wrap="square" lIns="0" tIns="0" rIns="0" bIns="0" rtlCol="0" anchor="t">
            <a:normAutofit/>
          </a:bodyPr>
          <a:lstStyle/>
          <a:p>
            <a:pPr marL="0" indent="0" algn="l">
              <a:lnSpc>
                <a:spcPts val="5616"/>
              </a:lnSpc>
              <a:buNone/>
            </a:pPr>
            <a:r>
              <a:rPr lang="en-US" sz="5200" b="1" dirty="0">
                <a:solidFill>
                  <a:srgbClr val="FAF9F6"/>
                </a:solidFill>
                <a:latin typeface="Space Grotesk" pitchFamily="34" charset="0"/>
                <a:ea typeface="Space Grotesk" pitchFamily="34" charset="-122"/>
                <a:cs typeface="Space Grotesk" pitchFamily="34" charset="-120"/>
              </a:rPr>
              <a:t>Pursuit: an AI-powered solution</a:t>
            </a:r>
            <a:endParaRPr lang="en-US" sz="5200" dirty="0"/>
          </a:p>
        </p:txBody>
      </p:sp>
      <p:sp>
        <p:nvSpPr>
          <p:cNvPr id="4" name="Text 2"/>
          <p:cNvSpPr/>
          <p:nvPr/>
        </p:nvSpPr>
        <p:spPr>
          <a:xfrm>
            <a:off x="812800" y="3592562"/>
            <a:ext cx="8502650" cy="614660"/>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C7C9CE"/>
                </a:solidFill>
                <a:latin typeface="IBM Plex Sans" pitchFamily="34" charset="0"/>
                <a:ea typeface="IBM Plex Sans" pitchFamily="34" charset="-122"/>
                <a:cs typeface="IBM Plex Sans" pitchFamily="34" charset="-120"/>
              </a:rPr>
              <a:t>A working prototype, running on a tender and DDN's public material: upload, draft, validate, export.</a:t>
            </a:r>
            <a:endParaRPr lang="en-US" sz="1600" dirty="0"/>
          </a:p>
        </p:txBody>
      </p:sp>
      <p:sp>
        <p:nvSpPr>
          <p:cNvPr id="5" name="Shape 3"/>
          <p:cNvSpPr/>
          <p:nvPr/>
        </p:nvSpPr>
        <p:spPr>
          <a:xfrm>
            <a:off x="812800" y="4487863"/>
            <a:ext cx="406400" cy="25400"/>
          </a:xfrm>
          <a:prstGeom prst="rect">
            <a:avLst/>
          </a:prstGeom>
          <a:solidFill>
            <a:srgbClr val="D6293F"/>
          </a:solidFill>
          <a:ln/>
        </p:spPr>
        <p:txBody>
          <a:bodyPr/>
          <a:lstStyle/>
          <a:p>
            <a:endParaRPr lang="es-CO"/>
          </a:p>
        </p:txBody>
      </p:sp>
      <p:sp>
        <p:nvSpPr>
          <p:cNvPr id="6" name="Text 4"/>
          <p:cNvSpPr/>
          <p:nvPr/>
        </p:nvSpPr>
        <p:spPr>
          <a:xfrm>
            <a:off x="1371600" y="4385022"/>
            <a:ext cx="2145948"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9BA0A8"/>
                </a:solidFill>
                <a:latin typeface="IBM Plex Sans" pitchFamily="34" charset="0"/>
                <a:ea typeface="IBM Plex Sans" pitchFamily="34" charset="-122"/>
                <a:cs typeface="IBM Plex Sans" pitchFamily="34" charset="-120"/>
              </a:rPr>
              <a:t>Demo</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D6293F"/>
                </a:solidFill>
                <a:latin typeface="IBM Plex Sans" pitchFamily="34" charset="0"/>
                <a:ea typeface="IBM Plex Sans" pitchFamily="34" charset="-122"/>
                <a:cs typeface="IBM Plex Sans" pitchFamily="34" charset="-120"/>
              </a:rPr>
              <a:t>PART B — LIVE PROTOTYPE</a:t>
            </a:r>
            <a:endParaRPr lang="en-US" sz="1200" dirty="0"/>
          </a:p>
        </p:txBody>
      </p:sp>
      <p:sp>
        <p:nvSpPr>
          <p:cNvPr id="3" name="Text 1"/>
          <p:cNvSpPr/>
          <p:nvPr/>
        </p:nvSpPr>
        <p:spPr>
          <a:xfrm>
            <a:off x="812800" y="1229320"/>
            <a:ext cx="10883392" cy="43433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B1B1F"/>
                </a:solidFill>
                <a:latin typeface="Space Grotesk" pitchFamily="34" charset="0"/>
                <a:ea typeface="Space Grotesk" pitchFamily="34" charset="-122"/>
                <a:cs typeface="Space Grotesk" pitchFamily="34" charset="-120"/>
              </a:rPr>
              <a:t>From spreadsheet to submitted response</a:t>
            </a:r>
            <a:endParaRPr lang="en-US" sz="2800" dirty="0"/>
          </a:p>
        </p:txBody>
      </p:sp>
      <p:sp>
        <p:nvSpPr>
          <p:cNvPr id="4" name="Shape 2"/>
          <p:cNvSpPr/>
          <p:nvPr/>
        </p:nvSpPr>
        <p:spPr>
          <a:xfrm>
            <a:off x="812800" y="1841450"/>
            <a:ext cx="1485900" cy="424160"/>
          </a:xfrm>
          <a:prstGeom prst="roundRect">
            <a:avLst>
              <a:gd name="adj" fmla="val 20959"/>
            </a:avLst>
          </a:prstGeom>
          <a:solidFill>
            <a:srgbClr val="F1EFEA"/>
          </a:solidFill>
          <a:ln/>
        </p:spPr>
        <p:txBody>
          <a:bodyPr/>
          <a:lstStyle/>
          <a:p>
            <a:endParaRPr lang="es-CO"/>
          </a:p>
        </p:txBody>
      </p:sp>
      <p:sp>
        <p:nvSpPr>
          <p:cNvPr id="5" name="Text 3"/>
          <p:cNvSpPr/>
          <p:nvPr/>
        </p:nvSpPr>
        <p:spPr>
          <a:xfrm>
            <a:off x="850900" y="1955750"/>
            <a:ext cx="1409700" cy="220960"/>
          </a:xfrm>
          <a:prstGeom prst="rect">
            <a:avLst/>
          </a:prstGeom>
          <a:noFill/>
          <a:ln/>
        </p:spPr>
        <p:txBody>
          <a:bodyPr wrap="square" lIns="0" tIns="0" rIns="0" bIns="0" rtlCol="0" anchor="t">
            <a:normAutofit/>
          </a:bodyPr>
          <a:lstStyle/>
          <a:p>
            <a:pPr marL="0" indent="0" algn="ctr">
              <a:lnSpc>
                <a:spcPts val="1540"/>
              </a:lnSpc>
              <a:buNone/>
            </a:pPr>
            <a:r>
              <a:rPr lang="en-US" sz="1100" b="1" dirty="0">
                <a:solidFill>
                  <a:srgbClr val="1B1B1F"/>
                </a:solidFill>
                <a:latin typeface="IBM Plex Sans" pitchFamily="34" charset="0"/>
                <a:ea typeface="IBM Plex Sans" pitchFamily="34" charset="-122"/>
                <a:cs typeface="IBM Plex Sans" pitchFamily="34" charset="-120"/>
              </a:rPr>
              <a:t>Import</a:t>
            </a:r>
            <a:endParaRPr lang="en-US" sz="1100" dirty="0"/>
          </a:p>
        </p:txBody>
      </p:sp>
      <p:pic>
        <p:nvPicPr>
          <p:cNvPr id="6" name="Image 0" descr="arrow-right"/>
          <p:cNvPicPr>
            <a:picLocks noChangeAspect="1"/>
          </p:cNvPicPr>
          <p:nvPr/>
        </p:nvPicPr>
        <p:blipFill>
          <a:blip r:embed="rId3"/>
          <a:srcRect/>
          <a:stretch/>
        </p:blipFill>
        <p:spPr>
          <a:xfrm>
            <a:off x="2362200" y="2002730"/>
            <a:ext cx="203200" cy="101600"/>
          </a:xfrm>
          <a:prstGeom prst="rect">
            <a:avLst/>
          </a:prstGeom>
        </p:spPr>
      </p:pic>
      <p:sp>
        <p:nvSpPr>
          <p:cNvPr id="7" name="Shape 4"/>
          <p:cNvSpPr/>
          <p:nvPr/>
        </p:nvSpPr>
        <p:spPr>
          <a:xfrm>
            <a:off x="2628900" y="1841450"/>
            <a:ext cx="1485900" cy="424160"/>
          </a:xfrm>
          <a:prstGeom prst="roundRect">
            <a:avLst>
              <a:gd name="adj" fmla="val 20959"/>
            </a:avLst>
          </a:prstGeom>
          <a:solidFill>
            <a:srgbClr val="F1EFEA"/>
          </a:solidFill>
          <a:ln/>
        </p:spPr>
        <p:txBody>
          <a:bodyPr/>
          <a:lstStyle/>
          <a:p>
            <a:endParaRPr lang="es-CO"/>
          </a:p>
        </p:txBody>
      </p:sp>
      <p:sp>
        <p:nvSpPr>
          <p:cNvPr id="8" name="Text 5"/>
          <p:cNvSpPr/>
          <p:nvPr/>
        </p:nvSpPr>
        <p:spPr>
          <a:xfrm>
            <a:off x="2667000" y="1955750"/>
            <a:ext cx="1409700" cy="220960"/>
          </a:xfrm>
          <a:prstGeom prst="rect">
            <a:avLst/>
          </a:prstGeom>
          <a:noFill/>
          <a:ln/>
        </p:spPr>
        <p:txBody>
          <a:bodyPr wrap="square" lIns="0" tIns="0" rIns="0" bIns="0" rtlCol="0" anchor="t">
            <a:normAutofit/>
          </a:bodyPr>
          <a:lstStyle/>
          <a:p>
            <a:pPr marL="0" indent="0" algn="ctr">
              <a:lnSpc>
                <a:spcPts val="1540"/>
              </a:lnSpc>
              <a:buNone/>
            </a:pPr>
            <a:r>
              <a:rPr lang="en-US" sz="1100" b="1" dirty="0">
                <a:solidFill>
                  <a:srgbClr val="1B1B1F"/>
                </a:solidFill>
                <a:latin typeface="IBM Plex Sans" pitchFamily="34" charset="0"/>
                <a:ea typeface="IBM Plex Sans" pitchFamily="34" charset="-122"/>
                <a:cs typeface="IBM Plex Sans" pitchFamily="34" charset="-120"/>
              </a:rPr>
              <a:t>Scoping</a:t>
            </a:r>
            <a:endParaRPr lang="en-US" sz="1100" dirty="0"/>
          </a:p>
        </p:txBody>
      </p:sp>
      <p:pic>
        <p:nvPicPr>
          <p:cNvPr id="9" name="Image 1" descr="arrow-right"/>
          <p:cNvPicPr>
            <a:picLocks noChangeAspect="1"/>
          </p:cNvPicPr>
          <p:nvPr/>
        </p:nvPicPr>
        <p:blipFill>
          <a:blip r:embed="rId3"/>
          <a:srcRect/>
          <a:stretch/>
        </p:blipFill>
        <p:spPr>
          <a:xfrm>
            <a:off x="4178300" y="2002730"/>
            <a:ext cx="203200" cy="101600"/>
          </a:xfrm>
          <a:prstGeom prst="rect">
            <a:avLst/>
          </a:prstGeom>
        </p:spPr>
      </p:pic>
      <p:sp>
        <p:nvSpPr>
          <p:cNvPr id="10" name="Shape 6"/>
          <p:cNvSpPr/>
          <p:nvPr/>
        </p:nvSpPr>
        <p:spPr>
          <a:xfrm>
            <a:off x="4445000" y="1841450"/>
            <a:ext cx="1485900" cy="424160"/>
          </a:xfrm>
          <a:prstGeom prst="roundRect">
            <a:avLst>
              <a:gd name="adj" fmla="val 20959"/>
            </a:avLst>
          </a:prstGeom>
          <a:solidFill>
            <a:srgbClr val="F1EFEA"/>
          </a:solidFill>
          <a:ln/>
        </p:spPr>
        <p:txBody>
          <a:bodyPr/>
          <a:lstStyle/>
          <a:p>
            <a:endParaRPr lang="es-CO"/>
          </a:p>
        </p:txBody>
      </p:sp>
      <p:sp>
        <p:nvSpPr>
          <p:cNvPr id="11" name="Text 7"/>
          <p:cNvSpPr/>
          <p:nvPr/>
        </p:nvSpPr>
        <p:spPr>
          <a:xfrm>
            <a:off x="4483100" y="1955750"/>
            <a:ext cx="1409700" cy="220960"/>
          </a:xfrm>
          <a:prstGeom prst="rect">
            <a:avLst/>
          </a:prstGeom>
          <a:noFill/>
          <a:ln/>
        </p:spPr>
        <p:txBody>
          <a:bodyPr wrap="square" lIns="0" tIns="0" rIns="0" bIns="0" rtlCol="0" anchor="t">
            <a:normAutofit/>
          </a:bodyPr>
          <a:lstStyle/>
          <a:p>
            <a:pPr marL="0" indent="0" algn="ctr">
              <a:lnSpc>
                <a:spcPts val="1540"/>
              </a:lnSpc>
              <a:buNone/>
            </a:pPr>
            <a:r>
              <a:rPr lang="en-US" sz="1100" b="1" dirty="0">
                <a:solidFill>
                  <a:srgbClr val="1B1B1F"/>
                </a:solidFill>
                <a:latin typeface="IBM Plex Sans" pitchFamily="34" charset="0"/>
                <a:ea typeface="IBM Plex Sans" pitchFamily="34" charset="-122"/>
                <a:cs typeface="IBM Plex Sans" pitchFamily="34" charset="-120"/>
              </a:rPr>
              <a:t>Decision</a:t>
            </a:r>
            <a:endParaRPr lang="en-US" sz="1100" dirty="0"/>
          </a:p>
        </p:txBody>
      </p:sp>
      <p:pic>
        <p:nvPicPr>
          <p:cNvPr id="12" name="Image 2" descr="arrow-right"/>
          <p:cNvPicPr>
            <a:picLocks noChangeAspect="1"/>
          </p:cNvPicPr>
          <p:nvPr/>
        </p:nvPicPr>
        <p:blipFill>
          <a:blip r:embed="rId3"/>
          <a:srcRect/>
          <a:stretch/>
        </p:blipFill>
        <p:spPr>
          <a:xfrm>
            <a:off x="5994400" y="2002730"/>
            <a:ext cx="203200" cy="101600"/>
          </a:xfrm>
          <a:prstGeom prst="rect">
            <a:avLst/>
          </a:prstGeom>
        </p:spPr>
      </p:pic>
      <p:sp>
        <p:nvSpPr>
          <p:cNvPr id="13" name="Shape 8"/>
          <p:cNvSpPr/>
          <p:nvPr/>
        </p:nvSpPr>
        <p:spPr>
          <a:xfrm>
            <a:off x="6261100" y="1841450"/>
            <a:ext cx="1485900" cy="424160"/>
          </a:xfrm>
          <a:prstGeom prst="roundRect">
            <a:avLst>
              <a:gd name="adj" fmla="val 20959"/>
            </a:avLst>
          </a:prstGeom>
          <a:solidFill>
            <a:srgbClr val="F1EFEA"/>
          </a:solidFill>
          <a:ln/>
        </p:spPr>
        <p:txBody>
          <a:bodyPr/>
          <a:lstStyle/>
          <a:p>
            <a:endParaRPr lang="es-CO"/>
          </a:p>
        </p:txBody>
      </p:sp>
      <p:sp>
        <p:nvSpPr>
          <p:cNvPr id="14" name="Text 9"/>
          <p:cNvSpPr/>
          <p:nvPr/>
        </p:nvSpPr>
        <p:spPr>
          <a:xfrm>
            <a:off x="6299200" y="1955750"/>
            <a:ext cx="1409700" cy="220960"/>
          </a:xfrm>
          <a:prstGeom prst="rect">
            <a:avLst/>
          </a:prstGeom>
          <a:noFill/>
          <a:ln/>
        </p:spPr>
        <p:txBody>
          <a:bodyPr wrap="square" lIns="0" tIns="0" rIns="0" bIns="0" rtlCol="0" anchor="t">
            <a:normAutofit/>
          </a:bodyPr>
          <a:lstStyle/>
          <a:p>
            <a:pPr marL="0" indent="0" algn="ctr">
              <a:lnSpc>
                <a:spcPts val="1540"/>
              </a:lnSpc>
              <a:buNone/>
            </a:pPr>
            <a:r>
              <a:rPr lang="en-US" sz="1100" b="1" dirty="0">
                <a:solidFill>
                  <a:srgbClr val="1B1B1F"/>
                </a:solidFill>
                <a:latin typeface="IBM Plex Sans" pitchFamily="34" charset="0"/>
                <a:ea typeface="IBM Plex Sans" pitchFamily="34" charset="-122"/>
                <a:cs typeface="IBM Plex Sans" pitchFamily="34" charset="-120"/>
              </a:rPr>
              <a:t>Auto-answer</a:t>
            </a:r>
            <a:endParaRPr lang="en-US" sz="1100" dirty="0"/>
          </a:p>
        </p:txBody>
      </p:sp>
      <p:pic>
        <p:nvPicPr>
          <p:cNvPr id="15" name="Image 3" descr="arrow-right"/>
          <p:cNvPicPr>
            <a:picLocks noChangeAspect="1"/>
          </p:cNvPicPr>
          <p:nvPr/>
        </p:nvPicPr>
        <p:blipFill>
          <a:blip r:embed="rId3"/>
          <a:srcRect/>
          <a:stretch/>
        </p:blipFill>
        <p:spPr>
          <a:xfrm>
            <a:off x="7810500" y="2002730"/>
            <a:ext cx="203200" cy="101600"/>
          </a:xfrm>
          <a:prstGeom prst="rect">
            <a:avLst/>
          </a:prstGeom>
        </p:spPr>
      </p:pic>
      <p:sp>
        <p:nvSpPr>
          <p:cNvPr id="16" name="Shape 10"/>
          <p:cNvSpPr/>
          <p:nvPr/>
        </p:nvSpPr>
        <p:spPr>
          <a:xfrm>
            <a:off x="8077200" y="1841450"/>
            <a:ext cx="1485900" cy="424160"/>
          </a:xfrm>
          <a:prstGeom prst="roundRect">
            <a:avLst>
              <a:gd name="adj" fmla="val 20959"/>
            </a:avLst>
          </a:prstGeom>
          <a:solidFill>
            <a:srgbClr val="F1EFEA"/>
          </a:solidFill>
          <a:ln/>
        </p:spPr>
        <p:txBody>
          <a:bodyPr/>
          <a:lstStyle/>
          <a:p>
            <a:endParaRPr lang="es-CO"/>
          </a:p>
        </p:txBody>
      </p:sp>
      <p:sp>
        <p:nvSpPr>
          <p:cNvPr id="17" name="Text 11"/>
          <p:cNvSpPr/>
          <p:nvPr/>
        </p:nvSpPr>
        <p:spPr>
          <a:xfrm>
            <a:off x="8115300" y="1955750"/>
            <a:ext cx="1409700" cy="220960"/>
          </a:xfrm>
          <a:prstGeom prst="rect">
            <a:avLst/>
          </a:prstGeom>
          <a:noFill/>
          <a:ln/>
        </p:spPr>
        <p:txBody>
          <a:bodyPr wrap="square" lIns="0" tIns="0" rIns="0" bIns="0" rtlCol="0" anchor="t">
            <a:normAutofit/>
          </a:bodyPr>
          <a:lstStyle/>
          <a:p>
            <a:pPr marL="0" indent="0" algn="ctr">
              <a:lnSpc>
                <a:spcPts val="1540"/>
              </a:lnSpc>
              <a:buNone/>
            </a:pPr>
            <a:r>
              <a:rPr lang="en-US" sz="1100" b="1" dirty="0">
                <a:solidFill>
                  <a:srgbClr val="1B1B1F"/>
                </a:solidFill>
                <a:latin typeface="IBM Plex Sans" pitchFamily="34" charset="0"/>
                <a:ea typeface="IBM Plex Sans" pitchFamily="34" charset="-122"/>
                <a:cs typeface="IBM Plex Sans" pitchFamily="34" charset="-120"/>
              </a:rPr>
              <a:t>Review</a:t>
            </a:r>
            <a:endParaRPr lang="en-US" sz="1100" dirty="0"/>
          </a:p>
        </p:txBody>
      </p:sp>
      <p:pic>
        <p:nvPicPr>
          <p:cNvPr id="18" name="Image 4" descr="arrow-right"/>
          <p:cNvPicPr>
            <a:picLocks noChangeAspect="1"/>
          </p:cNvPicPr>
          <p:nvPr/>
        </p:nvPicPr>
        <p:blipFill>
          <a:blip r:embed="rId3"/>
          <a:srcRect/>
          <a:stretch/>
        </p:blipFill>
        <p:spPr>
          <a:xfrm>
            <a:off x="9626600" y="2002730"/>
            <a:ext cx="203200" cy="101600"/>
          </a:xfrm>
          <a:prstGeom prst="rect">
            <a:avLst/>
          </a:prstGeom>
        </p:spPr>
      </p:pic>
      <p:sp>
        <p:nvSpPr>
          <p:cNvPr id="19" name="Shape 12"/>
          <p:cNvSpPr/>
          <p:nvPr/>
        </p:nvSpPr>
        <p:spPr>
          <a:xfrm>
            <a:off x="9893300" y="1841450"/>
            <a:ext cx="1485900" cy="424160"/>
          </a:xfrm>
          <a:prstGeom prst="roundRect">
            <a:avLst>
              <a:gd name="adj" fmla="val 20959"/>
            </a:avLst>
          </a:prstGeom>
          <a:solidFill>
            <a:srgbClr val="F1EFEA"/>
          </a:solidFill>
          <a:ln/>
        </p:spPr>
        <p:txBody>
          <a:bodyPr/>
          <a:lstStyle/>
          <a:p>
            <a:endParaRPr lang="es-CO"/>
          </a:p>
        </p:txBody>
      </p:sp>
      <p:sp>
        <p:nvSpPr>
          <p:cNvPr id="20" name="Text 13"/>
          <p:cNvSpPr/>
          <p:nvPr/>
        </p:nvSpPr>
        <p:spPr>
          <a:xfrm>
            <a:off x="9931400" y="1955750"/>
            <a:ext cx="1409700" cy="220960"/>
          </a:xfrm>
          <a:prstGeom prst="rect">
            <a:avLst/>
          </a:prstGeom>
          <a:noFill/>
          <a:ln/>
        </p:spPr>
        <p:txBody>
          <a:bodyPr wrap="square" lIns="0" tIns="0" rIns="0" bIns="0" rtlCol="0" anchor="t">
            <a:normAutofit/>
          </a:bodyPr>
          <a:lstStyle/>
          <a:p>
            <a:pPr marL="0" indent="0" algn="ctr">
              <a:lnSpc>
                <a:spcPts val="1540"/>
              </a:lnSpc>
              <a:buNone/>
            </a:pPr>
            <a:r>
              <a:rPr lang="en-US" sz="1100" b="1" dirty="0">
                <a:solidFill>
                  <a:srgbClr val="1B1B1F"/>
                </a:solidFill>
                <a:latin typeface="IBM Plex Sans" pitchFamily="34" charset="0"/>
                <a:ea typeface="IBM Plex Sans" pitchFamily="34" charset="-122"/>
                <a:cs typeface="IBM Plex Sans" pitchFamily="34" charset="-120"/>
              </a:rPr>
              <a:t>Export</a:t>
            </a:r>
            <a:endParaRPr lang="en-US" sz="1100" dirty="0"/>
          </a:p>
        </p:txBody>
      </p:sp>
      <p:sp>
        <p:nvSpPr>
          <p:cNvPr id="21" name="Shape 14"/>
          <p:cNvSpPr/>
          <p:nvPr/>
        </p:nvSpPr>
        <p:spPr>
          <a:xfrm>
            <a:off x="815975" y="2471985"/>
            <a:ext cx="5124450" cy="2076731"/>
          </a:xfrm>
          <a:prstGeom prst="roundRect">
            <a:avLst>
              <a:gd name="adj" fmla="val 6885"/>
            </a:avLst>
          </a:prstGeom>
          <a:solidFill>
            <a:srgbClr val="FFFFFF"/>
          </a:solidFill>
          <a:ln w="6350">
            <a:solidFill>
              <a:srgbClr val="E4E2DD"/>
            </a:solidFill>
            <a:prstDash val="solid"/>
          </a:ln>
        </p:spPr>
        <p:txBody>
          <a:bodyPr/>
          <a:lstStyle/>
          <a:p>
            <a:endParaRPr lang="es-CO"/>
          </a:p>
        </p:txBody>
      </p:sp>
      <p:sp>
        <p:nvSpPr>
          <p:cNvPr id="22" name="Text 15"/>
          <p:cNvSpPr/>
          <p:nvPr/>
        </p:nvSpPr>
        <p:spPr>
          <a:xfrm>
            <a:off x="1098550" y="2754561"/>
            <a:ext cx="4696079" cy="145306"/>
          </a:xfrm>
          <a:prstGeom prst="rect">
            <a:avLst/>
          </a:prstGeom>
          <a:noFill/>
          <a:ln/>
        </p:spPr>
        <p:txBody>
          <a:bodyPr wrap="square" lIns="0" tIns="0" rIns="0" bIns="0" rtlCol="0" anchor="t">
            <a:noAutofit/>
          </a:bodyPr>
          <a:lstStyle/>
          <a:p>
            <a:pPr marL="0" indent="0" algn="l">
              <a:lnSpc>
                <a:spcPts val="1080"/>
              </a:lnSpc>
              <a:buNone/>
            </a:pPr>
            <a:r>
              <a:rPr lang="en-US" sz="1400" b="1" dirty="0">
                <a:solidFill>
                  <a:srgbClr val="1B1B1F"/>
                </a:solidFill>
                <a:latin typeface="IBM Plex Sans" pitchFamily="34" charset="0"/>
                <a:ea typeface="IBM Plex Sans" pitchFamily="34" charset="-122"/>
                <a:cs typeface="IBM Plex Sans" pitchFamily="34" charset="-120"/>
              </a:rPr>
              <a:t>How scoping works</a:t>
            </a:r>
            <a:endParaRPr lang="en-US" sz="1400" dirty="0"/>
          </a:p>
        </p:txBody>
      </p:sp>
      <p:sp>
        <p:nvSpPr>
          <p:cNvPr id="23" name="Text 16"/>
          <p:cNvSpPr/>
          <p:nvPr/>
        </p:nvSpPr>
        <p:spPr>
          <a:xfrm>
            <a:off x="1098550" y="3062099"/>
            <a:ext cx="4696079" cy="1486618"/>
          </a:xfrm>
          <a:prstGeom prst="rect">
            <a:avLst/>
          </a:prstGeom>
          <a:noFill/>
          <a:ln/>
        </p:spPr>
        <p:txBody>
          <a:bodyPr wrap="square" lIns="0" tIns="0" rIns="0" bIns="0" rtlCol="0" anchor="t">
            <a:normAutofit/>
          </a:bodyPr>
          <a:lstStyle/>
          <a:p>
            <a:pPr marL="144066" indent="-127853" algn="l">
              <a:lnSpc>
                <a:spcPts val="1418"/>
              </a:lnSpc>
              <a:buSzPct val="100000"/>
              <a:buChar char="•"/>
            </a:pPr>
            <a:r>
              <a:rPr lang="en-US" sz="1200" dirty="0">
                <a:solidFill>
                  <a:srgbClr val="4A4F57"/>
                </a:solidFill>
                <a:latin typeface="IBM Plex Sans" pitchFamily="34" charset="0"/>
                <a:ea typeface="IBM Plex Sans" pitchFamily="34" charset="-122"/>
                <a:cs typeface="IBM Plex Sans" pitchFamily="34" charset="-120"/>
              </a:rPr>
              <a:t>Checked against a shared set of criteria — org fit, deal size, deadline, level of effort</a:t>
            </a:r>
            <a:endParaRPr lang="en-US" sz="1200" dirty="0"/>
          </a:p>
          <a:p>
            <a:pPr marL="144066" indent="-127853" algn="l">
              <a:lnSpc>
                <a:spcPts val="1418"/>
              </a:lnSpc>
              <a:buSzPct val="100000"/>
              <a:buChar char="•"/>
            </a:pPr>
            <a:r>
              <a:rPr lang="en-US" sz="1200" dirty="0">
                <a:solidFill>
                  <a:srgbClr val="4A4F57"/>
                </a:solidFill>
                <a:latin typeface="IBM Plex Sans" pitchFamily="34" charset="0"/>
                <a:ea typeface="IBM Plex Sans" pitchFamily="34" charset="-122"/>
                <a:cs typeface="IBM Plex Sans" pitchFamily="34" charset="-120"/>
              </a:rPr>
              <a:t>An LLM call assesses each criterion against retrieved knowledge-base evidence and drafts the reasoning shown beside it</a:t>
            </a:r>
            <a:endParaRPr lang="en-US" sz="1200" dirty="0"/>
          </a:p>
          <a:p>
            <a:pPr marL="144066" indent="-127853" algn="l">
              <a:lnSpc>
                <a:spcPts val="1418"/>
              </a:lnSpc>
              <a:buSzPct val="100000"/>
              <a:buChar char="•"/>
            </a:pPr>
            <a:r>
              <a:rPr lang="en-US" sz="1200" dirty="0">
                <a:solidFill>
                  <a:srgbClr val="4A4F57"/>
                </a:solidFill>
                <a:latin typeface="IBM Plex Sans" pitchFamily="34" charset="0"/>
                <a:ea typeface="IBM Plex Sans" pitchFamily="34" charset="-122"/>
                <a:cs typeface="IBM Plex Sans" pitchFamily="34" charset="-120"/>
              </a:rPr>
              <a:t>No evidence for a criterion means "not assessed," never a guess</a:t>
            </a:r>
            <a:endParaRPr lang="en-US" sz="1200" dirty="0"/>
          </a:p>
          <a:p>
            <a:pPr marL="144066" indent="-127853" algn="l">
              <a:lnSpc>
                <a:spcPts val="1418"/>
              </a:lnSpc>
              <a:buSzPct val="100000"/>
              <a:buChar char="•"/>
            </a:pPr>
            <a:r>
              <a:rPr lang="en-US" sz="1200" dirty="0">
                <a:solidFill>
                  <a:srgbClr val="4A4F57"/>
                </a:solidFill>
                <a:latin typeface="IBM Plex Sans" pitchFamily="34" charset="0"/>
                <a:ea typeface="IBM Plex Sans" pitchFamily="34" charset="-122"/>
                <a:cs typeface="IBM Plex Sans" pitchFamily="34" charset="-120"/>
              </a:rPr>
              <a:t>Advisory only — the bid / no-bid call always stays with the SE</a:t>
            </a:r>
            <a:endParaRPr lang="en-US" sz="1200" dirty="0"/>
          </a:p>
        </p:txBody>
      </p:sp>
      <p:sp>
        <p:nvSpPr>
          <p:cNvPr id="24" name="Shape 17"/>
          <p:cNvSpPr/>
          <p:nvPr/>
        </p:nvSpPr>
        <p:spPr>
          <a:xfrm>
            <a:off x="6251575" y="2471986"/>
            <a:ext cx="5124450" cy="2076730"/>
          </a:xfrm>
          <a:prstGeom prst="roundRect">
            <a:avLst>
              <a:gd name="adj" fmla="val 6885"/>
            </a:avLst>
          </a:prstGeom>
          <a:solidFill>
            <a:srgbClr val="FFFFFF"/>
          </a:solidFill>
          <a:ln w="6350">
            <a:solidFill>
              <a:srgbClr val="E4E2DD"/>
            </a:solidFill>
            <a:prstDash val="solid"/>
          </a:ln>
        </p:spPr>
        <p:txBody>
          <a:bodyPr/>
          <a:lstStyle/>
          <a:p>
            <a:endParaRPr lang="es-CO"/>
          </a:p>
        </p:txBody>
      </p:sp>
      <p:sp>
        <p:nvSpPr>
          <p:cNvPr id="25" name="Text 18"/>
          <p:cNvSpPr/>
          <p:nvPr/>
        </p:nvSpPr>
        <p:spPr>
          <a:xfrm>
            <a:off x="6534150" y="2754561"/>
            <a:ext cx="4696079" cy="145306"/>
          </a:xfrm>
          <a:prstGeom prst="rect">
            <a:avLst/>
          </a:prstGeom>
          <a:noFill/>
          <a:ln/>
        </p:spPr>
        <p:txBody>
          <a:bodyPr wrap="square" lIns="0" tIns="0" rIns="0" bIns="0" rtlCol="0" anchor="t">
            <a:noAutofit/>
          </a:bodyPr>
          <a:lstStyle/>
          <a:p>
            <a:pPr marL="0" indent="0" algn="l">
              <a:lnSpc>
                <a:spcPts val="1080"/>
              </a:lnSpc>
              <a:buNone/>
            </a:pPr>
            <a:r>
              <a:rPr lang="en-US" sz="1400" b="1" dirty="0">
                <a:solidFill>
                  <a:srgbClr val="1B1B1F"/>
                </a:solidFill>
                <a:latin typeface="IBM Plex Sans" pitchFamily="34" charset="0"/>
                <a:ea typeface="IBM Plex Sans" pitchFamily="34" charset="-122"/>
                <a:cs typeface="IBM Plex Sans" pitchFamily="34" charset="-120"/>
              </a:rPr>
              <a:t>How responding works</a:t>
            </a:r>
            <a:endParaRPr lang="en-US" sz="1400" dirty="0"/>
          </a:p>
        </p:txBody>
      </p:sp>
      <p:sp>
        <p:nvSpPr>
          <p:cNvPr id="26" name="Text 19"/>
          <p:cNvSpPr/>
          <p:nvPr/>
        </p:nvSpPr>
        <p:spPr>
          <a:xfrm>
            <a:off x="6534150" y="3062098"/>
            <a:ext cx="4696079" cy="1445649"/>
          </a:xfrm>
          <a:prstGeom prst="rect">
            <a:avLst/>
          </a:prstGeom>
          <a:noFill/>
          <a:ln/>
        </p:spPr>
        <p:txBody>
          <a:bodyPr wrap="square" lIns="0" tIns="0" rIns="0" bIns="0" rtlCol="0" anchor="t">
            <a:normAutofit/>
          </a:bodyPr>
          <a:lstStyle/>
          <a:p>
            <a:pPr marL="143471" indent="-127824" algn="l">
              <a:lnSpc>
                <a:spcPts val="1412"/>
              </a:lnSpc>
              <a:buSzPct val="100000"/>
              <a:buChar char="•"/>
            </a:pPr>
            <a:r>
              <a:rPr lang="en-US" sz="1200" dirty="0">
                <a:solidFill>
                  <a:srgbClr val="4A4F57"/>
                </a:solidFill>
                <a:latin typeface="IBM Plex Sans" pitchFamily="34" charset="0"/>
                <a:ea typeface="IBM Plex Sans" pitchFamily="34" charset="-122"/>
                <a:cs typeface="IBM Plex Sans" pitchFamily="34" charset="-120"/>
              </a:rPr>
              <a:t>An LLM call drafts each answer from retrieved knowledge-base passages and cites its source</a:t>
            </a:r>
            <a:endParaRPr lang="en-US" sz="1200" dirty="0"/>
          </a:p>
          <a:p>
            <a:pPr marL="143471" indent="-127824" algn="l">
              <a:lnSpc>
                <a:spcPts val="1412"/>
              </a:lnSpc>
              <a:buSzPct val="100000"/>
              <a:buChar char="•"/>
            </a:pPr>
            <a:r>
              <a:rPr lang="en-US" sz="1200" dirty="0">
                <a:solidFill>
                  <a:srgbClr val="4A4F57"/>
                </a:solidFill>
                <a:latin typeface="IBM Plex Sans" pitchFamily="34" charset="0"/>
                <a:ea typeface="IBM Plex Sans" pitchFamily="34" charset="-122"/>
                <a:cs typeface="IBM Plex Sans" pitchFamily="34" charset="-120"/>
              </a:rPr>
              <a:t>The same call reports its own confidence — only high-confidence answers are kept</a:t>
            </a:r>
            <a:endParaRPr lang="en-US" sz="1200" dirty="0"/>
          </a:p>
          <a:p>
            <a:pPr marL="143471" indent="-127824" algn="l">
              <a:lnSpc>
                <a:spcPts val="1412"/>
              </a:lnSpc>
              <a:buSzPct val="100000"/>
              <a:buChar char="•"/>
            </a:pPr>
            <a:r>
              <a:rPr lang="en-US" sz="1200" dirty="0">
                <a:solidFill>
                  <a:srgbClr val="4A4F57"/>
                </a:solidFill>
                <a:latin typeface="IBM Plex Sans" pitchFamily="34" charset="0"/>
                <a:ea typeface="IBM Plex Sans" pitchFamily="34" charset="-122"/>
                <a:cs typeface="IBM Plex Sans" pitchFamily="34" charset="-120"/>
              </a:rPr>
              <a:t>Everything else is left blank, with a note on what's missing and who owns it</a:t>
            </a:r>
            <a:endParaRPr lang="en-US" sz="1200" dirty="0"/>
          </a:p>
          <a:p>
            <a:pPr marL="143471" indent="-127824" algn="l">
              <a:lnSpc>
                <a:spcPts val="1412"/>
              </a:lnSpc>
              <a:buSzPct val="100000"/>
              <a:buChar char="•"/>
            </a:pPr>
            <a:r>
              <a:rPr lang="en-US" sz="1200" dirty="0">
                <a:solidFill>
                  <a:srgbClr val="4A4F57"/>
                </a:solidFill>
                <a:latin typeface="IBM Plex Sans" pitchFamily="34" charset="0"/>
                <a:ea typeface="IBM Plex Sans" pitchFamily="34" charset="-122"/>
                <a:cs typeface="IBM Plex Sans" pitchFamily="34" charset="-120"/>
              </a:rPr>
              <a:t>The SE reviews, corrects and fills the gaps — never starts from a blank page</a:t>
            </a:r>
            <a:endParaRPr lang="en-US" sz="1200" dirty="0"/>
          </a:p>
        </p:txBody>
      </p:sp>
      <p:sp>
        <p:nvSpPr>
          <p:cNvPr id="27" name="Shape 20"/>
          <p:cNvSpPr/>
          <p:nvPr/>
        </p:nvSpPr>
        <p:spPr>
          <a:xfrm>
            <a:off x="812800" y="4710948"/>
            <a:ext cx="10566400" cy="1365101"/>
          </a:xfrm>
          <a:prstGeom prst="roundRect">
            <a:avLst>
              <a:gd name="adj" fmla="val 9303"/>
            </a:avLst>
          </a:prstGeom>
          <a:solidFill>
            <a:srgbClr val="1B1B1F"/>
          </a:solidFill>
          <a:ln/>
        </p:spPr>
        <p:txBody>
          <a:bodyPr/>
          <a:lstStyle/>
          <a:p>
            <a:endParaRPr lang="es-CO"/>
          </a:p>
        </p:txBody>
      </p:sp>
      <p:sp>
        <p:nvSpPr>
          <p:cNvPr id="28" name="Text 21"/>
          <p:cNvSpPr/>
          <p:nvPr/>
        </p:nvSpPr>
        <p:spPr>
          <a:xfrm>
            <a:off x="1092200" y="4939548"/>
            <a:ext cx="4970780" cy="229840"/>
          </a:xfrm>
          <a:prstGeom prst="rect">
            <a:avLst/>
          </a:prstGeom>
          <a:noFill/>
          <a:ln/>
        </p:spPr>
        <p:txBody>
          <a:bodyPr wrap="none" lIns="0" tIns="0" rIns="0" bIns="0" rtlCol="0" anchor="t">
            <a:normAutofit/>
          </a:bodyPr>
          <a:lstStyle/>
          <a:p>
            <a:pPr marL="0" indent="0" algn="l">
              <a:lnSpc>
                <a:spcPts val="1610"/>
              </a:lnSpc>
              <a:buNone/>
            </a:pPr>
            <a:r>
              <a:rPr lang="en-US" sz="1150" b="1" kern="0" spc="100" dirty="0">
                <a:solidFill>
                  <a:srgbClr val="FF6B81"/>
                </a:solidFill>
                <a:latin typeface="IBM Plex Sans" pitchFamily="34" charset="0"/>
                <a:ea typeface="IBM Plex Sans" pitchFamily="34" charset="-122"/>
                <a:cs typeface="IBM Plex Sans" pitchFamily="34" charset="-120"/>
              </a:rPr>
              <a:t>THE KNOWLEDGE BASE</a:t>
            </a:r>
            <a:endParaRPr lang="en-US" sz="1150" dirty="0"/>
          </a:p>
        </p:txBody>
      </p:sp>
      <p:sp>
        <p:nvSpPr>
          <p:cNvPr id="29" name="Text 22"/>
          <p:cNvSpPr/>
          <p:nvPr/>
        </p:nvSpPr>
        <p:spPr>
          <a:xfrm>
            <a:off x="1092200" y="5207488"/>
            <a:ext cx="497078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1EFEA"/>
                </a:solidFill>
                <a:latin typeface="IBM Plex Sans" pitchFamily="34" charset="0"/>
                <a:ea typeface="IBM Plex Sans" pitchFamily="34" charset="-122"/>
                <a:cs typeface="IBM Plex Sans" pitchFamily="34" charset="-120"/>
              </a:rPr>
              <a:t>Built from datasheets, product documentation, past RFP answers and internal notes — indexed and searchable by meaning, not just keywords.</a:t>
            </a:r>
            <a:endParaRPr lang="en-US" sz="1200" dirty="0"/>
          </a:p>
        </p:txBody>
      </p:sp>
      <p:sp>
        <p:nvSpPr>
          <p:cNvPr id="30" name="Text 23"/>
          <p:cNvSpPr/>
          <p:nvPr/>
        </p:nvSpPr>
        <p:spPr>
          <a:xfrm>
            <a:off x="6273800" y="4939548"/>
            <a:ext cx="4970780" cy="229840"/>
          </a:xfrm>
          <a:prstGeom prst="rect">
            <a:avLst/>
          </a:prstGeom>
          <a:noFill/>
          <a:ln/>
        </p:spPr>
        <p:txBody>
          <a:bodyPr wrap="none" lIns="0" tIns="0" rIns="0" bIns="0" rtlCol="0" anchor="t">
            <a:normAutofit/>
          </a:bodyPr>
          <a:lstStyle/>
          <a:p>
            <a:pPr marL="0" indent="0" algn="l">
              <a:lnSpc>
                <a:spcPts val="1610"/>
              </a:lnSpc>
              <a:buNone/>
            </a:pPr>
            <a:r>
              <a:rPr lang="en-US" sz="1150" b="1" kern="0" spc="100" dirty="0">
                <a:solidFill>
                  <a:srgbClr val="FF6B81"/>
                </a:solidFill>
                <a:latin typeface="IBM Plex Sans" pitchFamily="34" charset="0"/>
                <a:ea typeface="IBM Plex Sans" pitchFamily="34" charset="-122"/>
                <a:cs typeface="IBM Plex Sans" pitchFamily="34" charset="-120"/>
              </a:rPr>
              <a:t>THE ENGINE UNDERNEATH</a:t>
            </a:r>
            <a:endParaRPr lang="en-US" sz="1150" dirty="0"/>
          </a:p>
        </p:txBody>
      </p:sp>
      <p:sp>
        <p:nvSpPr>
          <p:cNvPr id="31" name="Text 24"/>
          <p:cNvSpPr/>
          <p:nvPr/>
        </p:nvSpPr>
        <p:spPr>
          <a:xfrm>
            <a:off x="6273800" y="5207488"/>
            <a:ext cx="4970780" cy="665361"/>
          </a:xfrm>
          <a:prstGeom prst="rect">
            <a:avLst/>
          </a:prstGeom>
          <a:noFill/>
          <a:ln/>
        </p:spPr>
        <p:txBody>
          <a:bodyPr wrap="square" lIns="0" tIns="0" rIns="0" bIns="0" rtlCol="0" anchor="t">
            <a:normAutofit/>
          </a:bodyPr>
          <a:lstStyle/>
          <a:p>
            <a:pPr marL="0" indent="0" algn="l">
              <a:lnSpc>
                <a:spcPts val="1680"/>
              </a:lnSpc>
              <a:buNone/>
            </a:pPr>
            <a:r>
              <a:rPr lang="en-US" sz="1200" dirty="0" err="1">
                <a:solidFill>
                  <a:srgbClr val="F1EFEA"/>
                </a:solidFill>
                <a:latin typeface="IBM Plex Sans" pitchFamily="34" charset="0"/>
                <a:ea typeface="IBM Plex Sans" pitchFamily="34" charset="-122"/>
                <a:cs typeface="IBM Plex Sans" pitchFamily="34" charset="-120"/>
              </a:rPr>
              <a:t>OpenRouter's</a:t>
            </a:r>
            <a:r>
              <a:rPr lang="en-US" sz="1200" dirty="0">
                <a:solidFill>
                  <a:srgbClr val="F1EFEA"/>
                </a:solidFill>
                <a:latin typeface="IBM Plex Sans" pitchFamily="34" charset="0"/>
                <a:ea typeface="IBM Plex Sans" pitchFamily="34" charset="-122"/>
                <a:cs typeface="IBM Plex Sans" pitchFamily="34" charset="-120"/>
              </a:rPr>
              <a:t> API to reach the selected LLM (dots-studio/dots-3-note-preview) at zero per-token cost. </a:t>
            </a:r>
          </a:p>
          <a:p>
            <a:pPr marL="0" indent="0" algn="l">
              <a:lnSpc>
                <a:spcPts val="1680"/>
              </a:lnSpc>
              <a:buNone/>
            </a:pPr>
            <a:r>
              <a:rPr lang="en-US" sz="1200" dirty="0">
                <a:solidFill>
                  <a:srgbClr val="F1EFEA"/>
                </a:solidFill>
                <a:latin typeface="IBM Plex Sans" pitchFamily="34" charset="0"/>
                <a:ea typeface="IBM Plex Sans" pitchFamily="34" charset="-122"/>
                <a:cs typeface="IBM Plex Sans" pitchFamily="34" charset="-120"/>
              </a:rPr>
              <a:t>A different model, or provider, is a config change, not a rebuild.</a:t>
            </a:r>
            <a:endParaRPr lang="en-US" sz="1200" dirty="0"/>
          </a:p>
        </p:txBody>
      </p:sp>
      <p:sp>
        <p:nvSpPr>
          <p:cNvPr id="32" name="Text 25"/>
          <p:cNvSpPr/>
          <p:nvPr/>
        </p:nvSpPr>
        <p:spPr>
          <a:xfrm>
            <a:off x="812800" y="6238280"/>
            <a:ext cx="461580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F98"/>
                </a:solidFill>
                <a:latin typeface="IBM Plex Sans" pitchFamily="34" charset="0"/>
                <a:ea typeface="IBM Plex Sans" pitchFamily="34" charset="-122"/>
                <a:cs typeface="IBM Plex Sans" pitchFamily="34" charset="-120"/>
              </a:rPr>
              <a:t>Sebastian Rojas Díaz — CoE RFP Manager, Candidate Presentation</a:t>
            </a:r>
            <a:endParaRPr lang="en-US" sz="1200" dirty="0"/>
          </a:p>
        </p:txBody>
      </p:sp>
      <p:sp>
        <p:nvSpPr>
          <p:cNvPr id="33" name="Text 26"/>
          <p:cNvSpPr/>
          <p:nvPr/>
        </p:nvSpPr>
        <p:spPr>
          <a:xfrm>
            <a:off x="9492010" y="6238280"/>
            <a:ext cx="1943806" cy="23872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8A8F98"/>
                </a:solidFill>
                <a:latin typeface="IBM Plex Sans" pitchFamily="34" charset="0"/>
                <a:ea typeface="IBM Plex Sans" pitchFamily="34" charset="-122"/>
                <a:cs typeface="IBM Plex Sans" pitchFamily="34" charset="-120"/>
              </a:rPr>
              <a:t>PART B — LIVE PROTOTYPE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1B1B1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6B81"/>
                </a:solidFill>
                <a:latin typeface="IBM Plex Sans" pitchFamily="34" charset="0"/>
                <a:ea typeface="IBM Plex Sans" pitchFamily="34" charset="-122"/>
                <a:cs typeface="IBM Plex Sans" pitchFamily="34" charset="-120"/>
              </a:rPr>
              <a:t>PART C — VISION BEYOND YEAR ONE</a:t>
            </a:r>
            <a:endParaRPr lang="en-US" sz="1200" dirty="0"/>
          </a:p>
        </p:txBody>
      </p:sp>
      <p:sp>
        <p:nvSpPr>
          <p:cNvPr id="3" name="Text 1"/>
          <p:cNvSpPr/>
          <p:nvPr/>
        </p:nvSpPr>
        <p:spPr>
          <a:xfrm>
            <a:off x="812800" y="1254720"/>
            <a:ext cx="10883392" cy="448915"/>
          </a:xfrm>
          <a:prstGeom prst="rect">
            <a:avLst/>
          </a:prstGeom>
          <a:noFill/>
          <a:ln/>
        </p:spPr>
        <p:txBody>
          <a:bodyPr wrap="square" lIns="0" tIns="0" rIns="0" bIns="0" rtlCol="0" anchor="t">
            <a:normAutofit/>
          </a:bodyPr>
          <a:lstStyle/>
          <a:p>
            <a:pPr marL="0" indent="0" algn="l">
              <a:lnSpc>
                <a:spcPts val="3335"/>
              </a:lnSpc>
              <a:buNone/>
            </a:pPr>
            <a:r>
              <a:rPr lang="en-US" sz="2900" b="1" dirty="0">
                <a:solidFill>
                  <a:srgbClr val="FAF9F6"/>
                </a:solidFill>
                <a:latin typeface="Space Grotesk" pitchFamily="34" charset="0"/>
                <a:ea typeface="Space Grotesk" pitchFamily="34" charset="-122"/>
                <a:cs typeface="Space Grotesk" pitchFamily="34" charset="-120"/>
              </a:rPr>
              <a:t>The SE becomes a strategist, not a scribe</a:t>
            </a:r>
            <a:endParaRPr lang="en-US" sz="2900" dirty="0"/>
          </a:p>
        </p:txBody>
      </p:sp>
      <p:sp>
        <p:nvSpPr>
          <p:cNvPr id="4" name="Shape 2"/>
          <p:cNvSpPr/>
          <p:nvPr/>
        </p:nvSpPr>
        <p:spPr>
          <a:xfrm>
            <a:off x="815975" y="2122285"/>
            <a:ext cx="3380284" cy="1181646"/>
          </a:xfrm>
          <a:prstGeom prst="roundRect">
            <a:avLst>
              <a:gd name="adj" fmla="val 10479"/>
            </a:avLst>
          </a:prstGeom>
          <a:solidFill>
            <a:srgbClr val="FFFFFF">
              <a:alpha val="6000"/>
            </a:srgbClr>
          </a:solidFill>
          <a:ln w="6350">
            <a:solidFill>
              <a:srgbClr val="FFFFFF">
                <a:alpha val="14000"/>
              </a:srgbClr>
            </a:solidFill>
            <a:prstDash val="solid"/>
          </a:ln>
        </p:spPr>
        <p:txBody>
          <a:bodyPr/>
          <a:lstStyle/>
          <a:p>
            <a:endParaRPr lang="es-CO"/>
          </a:p>
        </p:txBody>
      </p:sp>
      <p:sp>
        <p:nvSpPr>
          <p:cNvPr id="5" name="Text 3"/>
          <p:cNvSpPr/>
          <p:nvPr/>
        </p:nvSpPr>
        <p:spPr>
          <a:xfrm>
            <a:off x="1047750" y="2354060"/>
            <a:ext cx="3004236" cy="231130"/>
          </a:xfrm>
          <a:prstGeom prst="rect">
            <a:avLst/>
          </a:prstGeom>
          <a:noFill/>
          <a:ln/>
        </p:spPr>
        <p:txBody>
          <a:bodyPr wrap="square" lIns="0" tIns="0" rIns="0" bIns="0" rtlCol="0" anchor="t">
            <a:normAutofit/>
          </a:bodyPr>
          <a:lstStyle/>
          <a:p>
            <a:pPr marL="0" indent="0" algn="l">
              <a:lnSpc>
                <a:spcPts val="1620"/>
              </a:lnSpc>
              <a:buNone/>
            </a:pPr>
            <a:r>
              <a:rPr lang="en-US" sz="1350" b="1" dirty="0">
                <a:solidFill>
                  <a:srgbClr val="FAF9F6"/>
                </a:solidFill>
                <a:latin typeface="IBM Plex Sans" pitchFamily="34" charset="0"/>
                <a:ea typeface="IBM Plex Sans" pitchFamily="34" charset="-122"/>
                <a:cs typeface="IBM Plex Sans" pitchFamily="34" charset="-120"/>
              </a:rPr>
              <a:t>Self-service absorbs the long tail</a:t>
            </a:r>
            <a:endParaRPr lang="en-US" sz="1350" dirty="0"/>
          </a:p>
        </p:txBody>
      </p:sp>
      <p:sp>
        <p:nvSpPr>
          <p:cNvPr id="6" name="Text 4"/>
          <p:cNvSpPr/>
          <p:nvPr/>
        </p:nvSpPr>
        <p:spPr>
          <a:xfrm>
            <a:off x="1047750" y="2648690"/>
            <a:ext cx="3004236" cy="448866"/>
          </a:xfrm>
          <a:prstGeom prst="rect">
            <a:avLst/>
          </a:prstGeom>
          <a:noFill/>
          <a:ln/>
        </p:spPr>
        <p:txBody>
          <a:bodyPr wrap="square" lIns="0" tIns="0" rIns="0" bIns="0" rtlCol="0" anchor="t">
            <a:normAutofit/>
          </a:bodyPr>
          <a:lstStyle/>
          <a:p>
            <a:pPr marL="0" indent="0" algn="l">
              <a:lnSpc>
                <a:spcPts val="1668"/>
              </a:lnSpc>
              <a:buNone/>
            </a:pPr>
            <a:r>
              <a:rPr lang="en-US" sz="1150" dirty="0">
                <a:solidFill>
                  <a:srgbClr val="C7C9CE"/>
                </a:solidFill>
                <a:latin typeface="IBM Plex Sans" pitchFamily="34" charset="0"/>
                <a:ea typeface="IBM Plex Sans" pitchFamily="34" charset="-122"/>
                <a:cs typeface="IBM Plex Sans" pitchFamily="34" charset="-120"/>
              </a:rPr>
              <a:t>Most RFIs and small RFPs touch a human queue only for approval</a:t>
            </a:r>
            <a:endParaRPr lang="en-US" sz="1150" dirty="0"/>
          </a:p>
        </p:txBody>
      </p:sp>
      <p:sp>
        <p:nvSpPr>
          <p:cNvPr id="7" name="Shape 5"/>
          <p:cNvSpPr/>
          <p:nvPr/>
        </p:nvSpPr>
        <p:spPr>
          <a:xfrm>
            <a:off x="4405809" y="2122285"/>
            <a:ext cx="3380333" cy="1181646"/>
          </a:xfrm>
          <a:prstGeom prst="roundRect">
            <a:avLst>
              <a:gd name="adj" fmla="val 10479"/>
            </a:avLst>
          </a:prstGeom>
          <a:solidFill>
            <a:srgbClr val="FFFFFF">
              <a:alpha val="6000"/>
            </a:srgbClr>
          </a:solidFill>
          <a:ln w="6350">
            <a:solidFill>
              <a:srgbClr val="FFFFFF">
                <a:alpha val="14000"/>
              </a:srgbClr>
            </a:solidFill>
            <a:prstDash val="solid"/>
          </a:ln>
        </p:spPr>
        <p:txBody>
          <a:bodyPr/>
          <a:lstStyle/>
          <a:p>
            <a:endParaRPr lang="es-CO"/>
          </a:p>
        </p:txBody>
      </p:sp>
      <p:sp>
        <p:nvSpPr>
          <p:cNvPr id="8" name="Text 6"/>
          <p:cNvSpPr/>
          <p:nvPr/>
        </p:nvSpPr>
        <p:spPr>
          <a:xfrm>
            <a:off x="4637584" y="2354060"/>
            <a:ext cx="3004287" cy="231130"/>
          </a:xfrm>
          <a:prstGeom prst="rect">
            <a:avLst/>
          </a:prstGeom>
          <a:noFill/>
          <a:ln/>
        </p:spPr>
        <p:txBody>
          <a:bodyPr wrap="square" lIns="0" tIns="0" rIns="0" bIns="0" rtlCol="0" anchor="t">
            <a:normAutofit/>
          </a:bodyPr>
          <a:lstStyle/>
          <a:p>
            <a:pPr marL="0" indent="0" algn="l">
              <a:lnSpc>
                <a:spcPts val="1620"/>
              </a:lnSpc>
              <a:buNone/>
            </a:pPr>
            <a:r>
              <a:rPr lang="en-US" sz="1350" b="1" dirty="0">
                <a:solidFill>
                  <a:srgbClr val="FAF9F6"/>
                </a:solidFill>
                <a:latin typeface="IBM Plex Sans" pitchFamily="34" charset="0"/>
                <a:ea typeface="IBM Plex Sans" pitchFamily="34" charset="-122"/>
                <a:cs typeface="IBM Plex Sans" pitchFamily="34" charset="-120"/>
              </a:rPr>
              <a:t>The CoE curates judgment</a:t>
            </a:r>
            <a:endParaRPr lang="en-US" sz="1350" dirty="0"/>
          </a:p>
        </p:txBody>
      </p:sp>
      <p:sp>
        <p:nvSpPr>
          <p:cNvPr id="9" name="Text 7"/>
          <p:cNvSpPr/>
          <p:nvPr/>
        </p:nvSpPr>
        <p:spPr>
          <a:xfrm>
            <a:off x="4637584" y="2648690"/>
            <a:ext cx="3004287" cy="448866"/>
          </a:xfrm>
          <a:prstGeom prst="rect">
            <a:avLst/>
          </a:prstGeom>
          <a:noFill/>
          <a:ln/>
        </p:spPr>
        <p:txBody>
          <a:bodyPr wrap="square" lIns="0" tIns="0" rIns="0" bIns="0" rtlCol="0" anchor="t">
            <a:normAutofit/>
          </a:bodyPr>
          <a:lstStyle/>
          <a:p>
            <a:pPr marL="0" indent="0" algn="l">
              <a:lnSpc>
                <a:spcPts val="1668"/>
              </a:lnSpc>
              <a:buNone/>
            </a:pPr>
            <a:r>
              <a:rPr lang="en-US" sz="1150" dirty="0">
                <a:solidFill>
                  <a:srgbClr val="C7C9CE"/>
                </a:solidFill>
                <a:latin typeface="IBM Plex Sans" pitchFamily="34" charset="0"/>
                <a:ea typeface="IBM Plex Sans" pitchFamily="34" charset="-122"/>
                <a:cs typeface="IBM Plex Sans" pitchFamily="34" charset="-120"/>
              </a:rPr>
              <a:t>Complex, strategic and novel bids get the team's full attention</a:t>
            </a:r>
            <a:endParaRPr lang="en-US" sz="1150" dirty="0"/>
          </a:p>
        </p:txBody>
      </p:sp>
      <p:sp>
        <p:nvSpPr>
          <p:cNvPr id="10" name="Shape 8"/>
          <p:cNvSpPr/>
          <p:nvPr/>
        </p:nvSpPr>
        <p:spPr>
          <a:xfrm>
            <a:off x="7995692" y="2122285"/>
            <a:ext cx="3380333" cy="1181646"/>
          </a:xfrm>
          <a:prstGeom prst="roundRect">
            <a:avLst>
              <a:gd name="adj" fmla="val 10479"/>
            </a:avLst>
          </a:prstGeom>
          <a:solidFill>
            <a:srgbClr val="FFFFFF">
              <a:alpha val="6000"/>
            </a:srgbClr>
          </a:solidFill>
          <a:ln w="6350">
            <a:solidFill>
              <a:srgbClr val="FFFFFF">
                <a:alpha val="14000"/>
              </a:srgbClr>
            </a:solidFill>
            <a:prstDash val="solid"/>
          </a:ln>
        </p:spPr>
        <p:txBody>
          <a:bodyPr/>
          <a:lstStyle/>
          <a:p>
            <a:endParaRPr lang="es-CO"/>
          </a:p>
        </p:txBody>
      </p:sp>
      <p:sp>
        <p:nvSpPr>
          <p:cNvPr id="11" name="Text 9"/>
          <p:cNvSpPr/>
          <p:nvPr/>
        </p:nvSpPr>
        <p:spPr>
          <a:xfrm>
            <a:off x="8227467" y="2354060"/>
            <a:ext cx="3004287" cy="231130"/>
          </a:xfrm>
          <a:prstGeom prst="rect">
            <a:avLst/>
          </a:prstGeom>
          <a:noFill/>
          <a:ln/>
        </p:spPr>
        <p:txBody>
          <a:bodyPr wrap="square" lIns="0" tIns="0" rIns="0" bIns="0" rtlCol="0" anchor="t">
            <a:normAutofit/>
          </a:bodyPr>
          <a:lstStyle/>
          <a:p>
            <a:pPr marL="0" indent="0" algn="l">
              <a:lnSpc>
                <a:spcPts val="1620"/>
              </a:lnSpc>
              <a:buNone/>
            </a:pPr>
            <a:r>
              <a:rPr lang="en-US" sz="1350" b="1" dirty="0">
                <a:solidFill>
                  <a:srgbClr val="FAF9F6"/>
                </a:solidFill>
                <a:latin typeface="IBM Plex Sans" pitchFamily="34" charset="0"/>
                <a:ea typeface="IBM Plex Sans" pitchFamily="34" charset="-122"/>
                <a:cs typeface="IBM Plex Sans" pitchFamily="34" charset="-120"/>
              </a:rPr>
              <a:t>Bid / no-bid becomes a craft</a:t>
            </a:r>
            <a:endParaRPr lang="en-US" sz="1350" dirty="0"/>
          </a:p>
        </p:txBody>
      </p:sp>
      <p:sp>
        <p:nvSpPr>
          <p:cNvPr id="12" name="Text 10"/>
          <p:cNvSpPr/>
          <p:nvPr/>
        </p:nvSpPr>
        <p:spPr>
          <a:xfrm>
            <a:off x="8227467" y="2648690"/>
            <a:ext cx="3004287" cy="448866"/>
          </a:xfrm>
          <a:prstGeom prst="rect">
            <a:avLst/>
          </a:prstGeom>
          <a:noFill/>
          <a:ln/>
        </p:spPr>
        <p:txBody>
          <a:bodyPr wrap="square" lIns="0" tIns="0" rIns="0" bIns="0" rtlCol="0" anchor="t">
            <a:normAutofit/>
          </a:bodyPr>
          <a:lstStyle/>
          <a:p>
            <a:pPr marL="0" indent="0" algn="l">
              <a:lnSpc>
                <a:spcPts val="1668"/>
              </a:lnSpc>
              <a:buNone/>
            </a:pPr>
            <a:r>
              <a:rPr lang="en-US" sz="1150" dirty="0">
                <a:solidFill>
                  <a:srgbClr val="C7C9CE"/>
                </a:solidFill>
                <a:latin typeface="IBM Plex Sans" pitchFamily="34" charset="0"/>
                <a:ea typeface="IBM Plex Sans" pitchFamily="34" charset="-122"/>
                <a:cs typeface="IBM Plex Sans" pitchFamily="34" charset="-120"/>
              </a:rPr>
              <a:t>A decision informed by every deal that came before it, not a guess</a:t>
            </a:r>
            <a:endParaRPr lang="en-US" sz="1150" dirty="0"/>
          </a:p>
        </p:txBody>
      </p:sp>
      <p:sp>
        <p:nvSpPr>
          <p:cNvPr id="13" name="Text 11"/>
          <p:cNvSpPr/>
          <p:nvPr/>
        </p:nvSpPr>
        <p:spPr>
          <a:xfrm>
            <a:off x="1515110" y="4108226"/>
            <a:ext cx="9156700" cy="390525"/>
          </a:xfrm>
          <a:prstGeom prst="rect">
            <a:avLst/>
          </a:prstGeom>
          <a:noFill/>
          <a:ln/>
        </p:spPr>
        <p:txBody>
          <a:bodyPr wrap="square" lIns="0" tIns="0" rIns="0" bIns="0" rtlCol="0" anchor="t">
            <a:normAutofit/>
          </a:bodyPr>
          <a:lstStyle/>
          <a:p>
            <a:pPr marL="0" indent="0" algn="ctr">
              <a:lnSpc>
                <a:spcPts val="2875"/>
              </a:lnSpc>
              <a:buNone/>
            </a:pPr>
            <a:r>
              <a:rPr lang="en-US" sz="2300" b="1" dirty="0">
                <a:solidFill>
                  <a:srgbClr val="FAF9F6"/>
                </a:solidFill>
                <a:latin typeface="IBM Plex Sans" pitchFamily="34" charset="0"/>
                <a:ea typeface="IBM Plex Sans" pitchFamily="34" charset="-122"/>
                <a:cs typeface="IBM Plex Sans" pitchFamily="34" charset="-120"/>
              </a:rPr>
              <a:t>DDN wins more of the deals it chooses to pursue.</a:t>
            </a:r>
            <a:endParaRPr lang="en-US" sz="2300" dirty="0"/>
          </a:p>
        </p:txBody>
      </p:sp>
      <p:sp>
        <p:nvSpPr>
          <p:cNvPr id="14" name="Text 12"/>
          <p:cNvSpPr/>
          <p:nvPr/>
        </p:nvSpPr>
        <p:spPr>
          <a:xfrm>
            <a:off x="812800" y="6238280"/>
            <a:ext cx="461580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BA0A8"/>
                </a:solidFill>
                <a:latin typeface="IBM Plex Sans" pitchFamily="34" charset="0"/>
                <a:ea typeface="IBM Plex Sans" pitchFamily="34" charset="-122"/>
                <a:cs typeface="IBM Plex Sans" pitchFamily="34" charset="-120"/>
              </a:rPr>
              <a:t>Sebastian Rojas Díaz — CoE RFP Manager, Candidate Presentation</a:t>
            </a:r>
            <a:endParaRPr lang="en-US" sz="1200" dirty="0"/>
          </a:p>
        </p:txBody>
      </p:sp>
      <p:pic>
        <p:nvPicPr>
          <p:cNvPr id="16" name="Picture 15">
            <a:extLst>
              <a:ext uri="{FF2B5EF4-FFF2-40B4-BE49-F238E27FC236}">
                <a16:creationId xmlns:a16="http://schemas.microsoft.com/office/drawing/2014/main" id="{539850E7-7DB8-D5E1-C838-6300B140CD11}"/>
              </a:ext>
            </a:extLst>
          </p:cNvPr>
          <p:cNvPicPr>
            <a:picLocks noChangeAspect="1"/>
          </p:cNvPicPr>
          <p:nvPr/>
        </p:nvPicPr>
        <p:blipFill>
          <a:blip r:embed="rId3"/>
          <a:srcRect l="17114" t="30555" r="16443" b="30043"/>
          <a:stretch>
            <a:fillRect/>
          </a:stretch>
        </p:blipFill>
        <p:spPr>
          <a:xfrm>
            <a:off x="5187226" y="4641892"/>
            <a:ext cx="1812468" cy="60415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291</TotalTime>
  <Words>1526</Words>
  <Application>Microsoft Office PowerPoint</Application>
  <PresentationFormat>Widescreen</PresentationFormat>
  <Paragraphs>224</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IBM Plex Sans</vt:lpstr>
      <vt:lpstr>Space Grotesk</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DDN CoE RFP Manager — Candidate Presentation</dc:title>
  <dc:subject>PptxGenJS Presentation</dc:subject>
  <dc:creator>PptxGenJS</dc:creator>
  <cp:lastModifiedBy>Seb</cp:lastModifiedBy>
  <cp:revision>18</cp:revision>
  <dcterms:created xsi:type="dcterms:W3CDTF">2026-09-28T11:04:17Z</dcterms:created>
  <dcterms:modified xsi:type="dcterms:W3CDTF">2026-09-29T16:01:31Z</dcterms:modified>
</cp:coreProperties>
</file>